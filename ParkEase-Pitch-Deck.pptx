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E8E8F0"/>
                </a:solidFill>
                <a:latin typeface="Arial"/>
              </a:defRPr>
            </a:pPr>
            <a:r>
              <a:rPr sz="1100" b="0" i="0" u="none" strike="noStrike">
                <a:solidFill>
                  <a:srgbClr val="E8E8F0"/>
                </a:solidFill>
                <a:latin typeface="Arial"/>
              </a:rPr>
              <a:t>Driver-hours saved per day (at scale)</a:t>
            </a:r>
          </a:p>
        </c:rich>
      </c:tx>
      <c:layout/>
      <c:overlay val="0"/>
    </c:title>
    <c:autoTitleDeleted val="0"/>
    <c:plotArea>
      <c:layout/>
      <c:barChart>
        <c:barDir val="col"/>
        <c:grouping val="clustered"/>
        <c:varyColors val="0"/>
        <c:ser>
          <c:idx val="0"/>
          <c:order val="0"/>
          <c:tx>
            <c:strRef>
              <c:f>Sheet1!$B$1</c:f>
              <c:strCache>
                <c:ptCount val="1"/>
                <c:pt idx="0">
                  <c:v>Driver-hours saved / day</c:v>
                </c:pt>
              </c:strCache>
            </c:strRef>
          </c:tx>
          <c:spPr>
            <a:solidFill>
              <a:srgbClr val="A855F7">
                <a:alpha val="100000"/>
              </a:srgbClr>
            </a:solidFill>
            <a:effectLst/>
          </c:spPr>
          <c:invertIfNegative val="0"/>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cat>
            <c:multiLvlStrRef>
              <c:f>Sheet1!$A$2:$A$4</c:f>
              <c:multiLvlStrCache>
                <c:ptCount val="3"/>
                <c:lvl>
                  <c:pt idx="0">
                    <c:v>0.1M users</c:v>
                  </c:pt>
                  <c:pt idx="1">
                    <c:v>0.5M users</c:v>
                  </c:pt>
                  <c:pt idx="2">
                    <c:v>1M users</c:v>
                  </c:pt>
                </c:lvl>
              </c:multiLvlStrCache>
            </c:multiLvlStrRef>
          </c:cat>
          <c:val>
            <c:numRef>
              <c:f>Sheet1!$B$2:$B$4</c:f>
              <c:numCache>
                <c:formatCode>General</c:formatCode>
                <c:ptCount val="3"/>
                <c:pt idx="0">
                  <c:v>56667</c:v>
                </c:pt>
                <c:pt idx="1">
                  <c:v>283333</c:v>
                </c:pt>
                <c:pt idx="2">
                  <c:v>566667</c:v>
                </c:pt>
              </c:numCache>
            </c:numRef>
          </c:val>
        </c:ser>
        <c:dLbls>
          <c:numFmt formatCode="#,##0" sourceLinked="0"/>
          <c:txPr>
            <a:bodyPr/>
            <a:lstStyle/>
            <a:p>
              <a:pPr>
                <a:defRPr b="0" i="0" strike="noStrike" sz="8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AAB0C2"/>
                </a:solidFill>
                <a:latin typeface="Arial"/>
              </a:defRPr>
            </a:pPr>
            <a:endParaRPr lang="en-US"/>
          </a:p>
        </c:txPr>
        <c:crossAx val="2094734552"/>
        <c:crosses val="autoZero"/>
        <c:auto val="1"/>
        <c:lblAlgn val="ctr"/>
        <c:noMultiLvlLbl val="1"/>
      </c:catAx>
      <c:valAx>
        <c:axId val="2094734552"/>
        <c:scaling>
          <c:orientation val="minMax"/>
          <c:max val="600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AAB0C2"/>
                </a:solidFill>
                <a:latin typeface="Arial"/>
              </a:defRPr>
            </a:pPr>
            <a:endParaRPr lang="en-US"/>
          </a:p>
        </c:txPr>
        <c:crossAx val="2094734554"/>
        <c:crosses val="autoZero"/>
        <c:crossBetween val="between"/>
        <c:majorUnit val="150000"/>
      </c:valAx>
      <c:spPr>
        <a:solidFill>
          <a:srgbClr val="15131F"/>
        </a:solid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E8E8F0"/>
                </a:solidFill>
                <a:latin typeface="Arial"/>
              </a:defRPr>
            </a:pPr>
            <a:r>
              <a:rPr sz="1000" b="0" i="0" u="none" strike="noStrike">
                <a:solidFill>
                  <a:srgbClr val="E8E8F0"/>
                </a:solidFill>
                <a:latin typeface="Arial"/>
              </a:rPr>
              <a:t>Market size index (2024 = 100, ~16% CAGR, illustrative)</a:t>
            </a:r>
          </a:p>
        </c:rich>
      </c:tx>
      <c:layout/>
      <c:overlay val="0"/>
    </c:title>
    <c:autoTitleDeleted val="0"/>
    <c:plotArea>
      <c:layout/>
      <c:lineChart>
        <c:varyColors val="0"/>
        <c:ser>
          <c:idx val="0"/>
          <c:order val="0"/>
          <c:tx>
            <c:strRef>
              <c:f>Sheet1!$B$1</c:f>
              <c:strCache>
                <c:ptCount val="1"/>
                <c:pt idx="0">
                  <c:v>India smart-parking market (illustrative)</c:v>
                </c:pt>
              </c:strCache>
            </c:strRef>
          </c:tx>
          <c:spPr>
            <a:solidFill>
              <a:srgbClr val="D946EF"/>
            </a:solidFill>
            <a:ln w="38100" cap="flat">
              <a:solidFill>
                <a:srgbClr val="D946E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46EF"/>
              </a:solidFill>
              <a:ln w="9525" cap="flat">
                <a:solidFill>
                  <a:srgbClr val="D946EF"/>
                </a:solidFill>
                <a:prstDash val="solid"/>
                <a:round/>
              </a:ln>
              <a:effectLst/>
            </c:spPr>
          </c:marker>
          <c:cat>
            <c:multiLvlStrRef>
              <c:f>Sheet1!$A$2:$A$8</c:f>
              <c:multiLvlStrCache>
                <c:ptCount val="7"/>
                <c:lvl>
                  <c:pt idx="0">
                    <c:v>2024</c:v>
                  </c:pt>
                  <c:pt idx="1">
                    <c:v>2025</c:v>
                  </c:pt>
                  <c:pt idx="2">
                    <c:v>2026</c:v>
                  </c:pt>
                  <c:pt idx="3">
                    <c:v>2027</c:v>
                  </c:pt>
                  <c:pt idx="4">
                    <c:v>2028</c:v>
                  </c:pt>
                  <c:pt idx="5">
                    <c:v>2029</c:v>
                  </c:pt>
                  <c:pt idx="6">
                    <c:v>2030</c:v>
                  </c:pt>
                </c:lvl>
              </c:multiLvlStrCache>
            </c:multiLvlStrRef>
          </c:cat>
          <c:val>
            <c:numRef>
              <c:f>Sheet1!$B$2:$B$8</c:f>
              <c:numCache>
                <c:formatCode>General</c:formatCode>
                <c:ptCount val="7"/>
                <c:pt idx="0">
                  <c:v>100</c:v>
                </c:pt>
                <c:pt idx="1">
                  <c:v>117</c:v>
                </c:pt>
                <c:pt idx="2">
                  <c:v>137</c:v>
                </c:pt>
                <c:pt idx="3">
                  <c:v>160</c:v>
                </c:pt>
                <c:pt idx="4">
                  <c:v>187</c:v>
                </c:pt>
                <c:pt idx="5">
                  <c:v>219</c:v>
                </c:pt>
                <c:pt idx="6">
                  <c:v>256</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AAB0C2"/>
                </a:solidFill>
                <a:latin typeface="Arial"/>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AAB0C2"/>
                </a:solidFill>
                <a:latin typeface="Arial"/>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E8E8F0"/>
                </a:solidFill>
                <a:latin typeface="Arial"/>
              </a:defRPr>
            </a:pPr>
            <a:r>
              <a:rPr sz="1100" b="0" i="0" u="none" strike="noStrike">
                <a:solidFill>
                  <a:srgbClr val="E8E8F0"/>
                </a:solidFill>
                <a:latin typeface="Arial"/>
              </a:rPr>
              <a:t>Illustrative revenue mix</a:t>
            </a:r>
          </a:p>
        </c:rich>
      </c:tx>
      <c:layout/>
      <c:overlay val="0"/>
    </c:title>
    <c:autoTitleDeleted val="0"/>
    <c:plotArea>
      <c:layout/>
      <c:pieChart>
        <c:varyColors val="1"/>
        <c:ser>
          <c:idx val="0"/>
          <c:order val="0"/>
          <c:tx>
            <c:strRef>
              <c:f>Sheet1!$B$1</c:f>
              <c:strCache>
                <c:ptCount val="1"/>
                <c:pt idx="0">
                  <c:v>Revenue mix</c:v>
                </c:pt>
              </c:strCache>
            </c:strRef>
          </c:tx>
          <c:spPr>
            <a:solidFill>
              <a:schemeClr val="accent1"/>
            </a:solidFill>
            <a:ln w="9525" cap="flat">
              <a:solidFill>
                <a:srgbClr val="F9F9F9"/>
              </a:solidFill>
              <a:prstDash val="solid"/>
              <a:round/>
            </a:ln>
            <a:effectLst/>
          </c:spPr>
          <c:dPt>
            <c:idx val="0"/>
            <c:bubble3D val="0"/>
            <c:spPr>
              <a:solidFill>
                <a:srgbClr val="A855F7"/>
              </a:solidFill>
              <a:effectLst/>
            </c:spPr>
          </c:dPt>
          <c:dPt>
            <c:idx val="1"/>
            <c:bubble3D val="0"/>
            <c:spPr>
              <a:solidFill>
                <a:srgbClr val="D946EF"/>
              </a:solidFill>
              <a:effectLst/>
            </c:spPr>
          </c:dPt>
          <c:dPt>
            <c:idx val="2"/>
            <c:bubble3D val="0"/>
            <c:spPr>
              <a:solidFill>
                <a:srgbClr val="7C3AED"/>
              </a:solidFill>
              <a:effectLst/>
            </c:spPr>
          </c:dPt>
          <c:dPt>
            <c:idx val="3"/>
            <c:bubble3D val="0"/>
            <c:spPr>
              <a:solidFill>
                <a:srgbClr val="8B5CF6"/>
              </a:solidFill>
              <a:effectLst/>
            </c:spPr>
          </c:dPt>
          <c:dLbls>
            <c:dLbl>
              <c:idx val="0"/>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9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Sheet1!$A$2:$A$5</c:f>
              <c:strCache>
                <c:ptCount val="4"/>
                <c:pt idx="0">
                  <c:v>Booking commission</c:v>
                </c:pt>
                <c:pt idx="1">
                  <c:v>Owner subscriptions</c:v>
                </c:pt>
                <c:pt idx="2">
                  <c:v>Dynamic pricing</c:v>
                </c:pt>
                <c:pt idx="3">
                  <c:v>Ads &amp; partnerships</c:v>
                </c:pt>
              </c:strCache>
            </c:strRef>
          </c:cat>
          <c:val>
            <c:numRef>
              <c:f>Sheet1!$B$2:$B$5</c:f>
              <c:numCache>
                <c:ptCount val="4"/>
                <c:pt idx="0">
                  <c:v>55</c:v>
                </c:pt>
                <c:pt idx="1">
                  <c:v>25</c:v>
                </c:pt>
                <c:pt idx="2">
                  <c:v>12</c:v>
                </c:pt>
                <c:pt idx="3">
                  <c:v>8</c:v>
                </c:pt>
              </c:numCache>
            </c:numRef>
          </c:val>
        </c:ser>
        <c:firstSliceAng val="0"/>
      </c:pieChart>
      <c:spPr>
        <a:noFill/>
        <a:ln>
          <a:noFill/>
        </a:ln>
        <a:effectLst/>
      </c:spPr>
    </c:plotArea>
    <c:legend>
      <c:legendPos val="b"/>
      <c:overlay val="0"/>
      <c:txPr>
        <a:bodyPr/>
        <a:lstStyle/>
        <a:p>
          <a:pPr>
            <a:defRPr sz="900">
              <a:solidFill>
                <a:srgbClr val="CFD0D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ParkEase is a smart-parking platform that lets drivers find and reserve a guaranteed spot before they arrive. Frame it as solving a daily, universal pain in Indian cities — then move quickly into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vehicle ownership is booming but parking information hasn't kept up. Drivers waste 15–20 minutes per trip and often park illegally out of desperation. Land the emotional hook before showing the hard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the headline stats hard, pausing after each. 8 crore+ traffic challans a year nationally; Noida alone issued ~2.7 lakh illegal-parking challans in a single year; Delhi issues ~65,000 a month — roughly 7.8 lakh a year. Note: cite official/press sources (see the appendix)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the cost. It isn't just the fine — parking search drives an estimated ~30% of urban congestion, wastes fuel and raises emissions. Make it a societal problem, not just an individual inconvenience.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ParkEase as the fix: one live map aggregating commercial lots, street and private spaces. Two sides of the marketplace — drivers reserve and pay ahead; owners monetise space they already own. Emphasise it's asset-light.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simple four-step flow and stress it takes under a minute with a guaranteed spot. Real-time availability over WebSockets means what the driver sees is actually free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this is a working, full-stack platform — not a mockup. Call out the differentiators: real payments via Razorpay, live monitoring with Park.Guard, verified (booking-gated) reviews, and the built-in AI assistant.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Quantify the upside. ~17 minutes saved per trip; at 1M users and two trips a day that's roughly 570,000 driver-hours saved every day. Fewer cars circling means fewer illegal-parking fines and less congestion. Flag the chart as an illustrative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the prize: 350M+ registered vehicles, 500M+ urban residents, and rising smartphone/UPI adoption. Even a small share is a large business. Flag the growth curve as illustrative — swap in a sourced market report for fundraising.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economics: commission per booking is the core revenue, plus owner subscriptions and featured listings, a share of dynamic/surge pricing, and partnerships (EV, insurance). Multiple streams, asset-light.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edge — aggregation + real-time + secure payments + monitoring + AI in a single product — then paint the roadmap: AI availability prediction, dynamic pricing, EV/IoT integration, native mobile apps and city partnerships.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vision and a clear ask. 'Park with certainty, arrive with ease.' State exactly what you're seeking — a pilot, a partnership, mentorship, or funding —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Backup/appendix slide. Use it to answer 'where did these numbers come from?'. Replace each placeholder with the exact primary citation (with year and link) before you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9-1.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1162348"/>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SMART PARKING · RESERVED IN ADVANCE</a:t>
            </a:r>
            <a:endParaRPr lang="en-US" sz="1100" dirty="0"/>
          </a:p>
        </p:txBody>
      </p:sp>
      <p:sp>
        <p:nvSpPr>
          <p:cNvPr id="3" name="Text 1"/>
          <p:cNvSpPr/>
          <p:nvPr/>
        </p:nvSpPr>
        <p:spPr>
          <a:xfrm>
            <a:off x="507950" y="1492448"/>
            <a:ext cx="8290661" cy="914400"/>
          </a:xfrm>
          <a:prstGeom prst="rect">
            <a:avLst/>
          </a:prstGeom>
          <a:noFill/>
          <a:ln/>
        </p:spPr>
        <p:txBody>
          <a:bodyPr wrap="square" lIns="0" tIns="0" rIns="0" bIns="0" rtlCol="0" anchor="t"/>
          <a:lstStyle/>
          <a:p>
            <a:pPr algn="l" indent="0" marL="0">
              <a:spcBef>
                <a:spcPts val="1400"/>
              </a:spcBef>
              <a:buNone/>
            </a:pPr>
            <a:r>
              <a:rPr lang="en-US" sz="6200" dirty="0">
                <a:solidFill>
                  <a:srgbClr val="FFFFFF"/>
                </a:solidFill>
                <a:latin typeface="Arial" pitchFamily="34" charset="0"/>
                <a:ea typeface="Arial" pitchFamily="34" charset="-122"/>
                <a:cs typeface="Arial" pitchFamily="34" charset="-120"/>
              </a:rPr>
              <a:t>Park</a:t>
            </a:r>
            <a:pPr algn="l" indent="0" marL="0">
              <a:spcBef>
                <a:spcPts val="1400"/>
              </a:spcBef>
              <a:buNone/>
            </a:pPr>
            <a:r>
              <a:rPr lang="en-US" sz="6200" b="1" dirty="0">
                <a:solidFill>
                  <a:srgbClr val="C084FC"/>
                </a:solidFill>
                <a:latin typeface="Arial" pitchFamily="34" charset="0"/>
                <a:ea typeface="Arial" pitchFamily="34" charset="-122"/>
                <a:cs typeface="Arial" pitchFamily="34" charset="-120"/>
              </a:rPr>
              <a:t>Ease</a:t>
            </a:r>
            <a:endParaRPr lang="en-US" sz="62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2584549"/>
            <a:ext cx="1905000" cy="76200"/>
          </a:xfrm>
          <a:prstGeom prst="rect">
            <a:avLst/>
          </a:prstGeom>
        </p:spPr>
      </p:pic>
      <p:sp>
        <p:nvSpPr>
          <p:cNvPr id="5" name="Text 2"/>
          <p:cNvSpPr/>
          <p:nvPr/>
        </p:nvSpPr>
        <p:spPr>
          <a:xfrm>
            <a:off x="507950" y="2889349"/>
            <a:ext cx="6995160" cy="609302"/>
          </a:xfrm>
          <a:prstGeom prst="rect">
            <a:avLst/>
          </a:prstGeom>
          <a:noFill/>
          <a:ln/>
        </p:spPr>
        <p:txBody>
          <a:bodyPr wrap="square" lIns="0" tIns="0" rIns="0" bIns="0" rtlCol="0" anchor="t"/>
          <a:lstStyle/>
          <a:p>
            <a:pPr algn="l" indent="0" marL="0">
              <a:lnSpc>
                <a:spcPts val="2400"/>
              </a:lnSpc>
              <a:spcBef>
                <a:spcPts val="1800"/>
              </a:spcBef>
              <a:buNone/>
            </a:pPr>
            <a:r>
              <a:rPr lang="en-US" sz="1600" dirty="0">
                <a:solidFill>
                  <a:srgbClr val="C6C8D4"/>
                </a:solidFill>
                <a:latin typeface="Arial" pitchFamily="34" charset="0"/>
                <a:ea typeface="Arial" pitchFamily="34" charset="-122"/>
                <a:cs typeface="Arial" pitchFamily="34" charset="-120"/>
              </a:rPr>
              <a:t>Find, compare and book a guaranteed parking spot near you — ending the daily hunt for parking in India’s cities.</a:t>
            </a:r>
            <a:endParaRPr lang="en-US" sz="1600" dirty="0"/>
          </a:p>
        </p:txBody>
      </p:sp>
      <p:sp>
        <p:nvSpPr>
          <p:cNvPr id="6" name="Text 3"/>
          <p:cNvSpPr/>
          <p:nvPr/>
        </p:nvSpPr>
        <p:spPr>
          <a:xfrm>
            <a:off x="507950" y="3828752"/>
            <a:ext cx="8290661" cy="152400"/>
          </a:xfrm>
          <a:prstGeom prst="rect">
            <a:avLst/>
          </a:prstGeom>
          <a:noFill/>
          <a:ln/>
        </p:spPr>
        <p:txBody>
          <a:bodyPr wrap="square" lIns="0" tIns="0" rIns="0" bIns="0" rtlCol="0" anchor="t"/>
          <a:lstStyle/>
          <a:p>
            <a:pPr algn="l" indent="0" marL="0">
              <a:spcBef>
                <a:spcPts val="2600"/>
              </a:spcBef>
              <a:buNone/>
            </a:pPr>
            <a:r>
              <a:rPr lang="en-US" sz="1100" dirty="0">
                <a:solidFill>
                  <a:srgbClr val="6B7088"/>
                </a:solidFill>
                <a:latin typeface="Arial" pitchFamily="34" charset="0"/>
                <a:ea typeface="Arial" pitchFamily="34" charset="-122"/>
                <a:cs typeface="Arial" pitchFamily="34" charset="-120"/>
              </a:rPr>
              <a:t>Pitch Deck · 2026  |  MERN Web Platform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India is running out of places to park.</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Text 2"/>
          <p:cNvSpPr/>
          <p:nvPr/>
        </p:nvSpPr>
        <p:spPr>
          <a:xfrm>
            <a:off x="507950" y="1314152"/>
            <a:ext cx="7772400" cy="460474"/>
          </a:xfrm>
          <a:prstGeom prst="rect">
            <a:avLst/>
          </a:prstGeom>
          <a:noFill/>
          <a:ln/>
        </p:spPr>
        <p:txBody>
          <a:bodyPr wrap="square" lIns="0" tIns="0" rIns="0" bIns="0" rtlCol="0" anchor="t"/>
          <a:lstStyle/>
          <a:p>
            <a:pPr algn="l" indent="0" marL="0">
              <a:lnSpc>
                <a:spcPts val="1813"/>
              </a:lnSpc>
              <a:spcBef>
                <a:spcPts val="700"/>
              </a:spcBef>
              <a:buNone/>
            </a:pPr>
            <a:r>
              <a:rPr lang="en-US" sz="1250" dirty="0">
                <a:solidFill>
                  <a:srgbClr val="9AA0B5"/>
                </a:solidFill>
                <a:latin typeface="Arial" pitchFamily="34" charset="0"/>
                <a:ea typeface="Arial" pitchFamily="34" charset="-122"/>
                <a:cs typeface="Arial" pitchFamily="34" charset="-120"/>
              </a:rPr>
              <a:t>Vehicle ownership is exploding, but parking infrastructure and information haven’t kept up. Drivers circle endlessly, park illegally out of desperation, and pay the price — in time, fuel, fines, and frustration.</a:t>
            </a:r>
            <a:endParaRPr lang="en-US" sz="1250" dirty="0"/>
          </a:p>
        </p:txBody>
      </p:sp>
      <p:sp>
        <p:nvSpPr>
          <p:cNvPr id="6" name="Text 3"/>
          <p:cNvSpPr/>
          <p:nvPr/>
        </p:nvSpPr>
        <p:spPr>
          <a:xfrm>
            <a:off x="507950" y="2028527"/>
            <a:ext cx="2489150" cy="1262955"/>
          </a:xfrm>
          <a:prstGeom prst="roundRect">
            <a:avLst>
              <a:gd name="adj" fmla="val 9050"/>
            </a:avLst>
          </a:prstGeom>
          <a:solidFill>
            <a:srgbClr val="15131F"/>
          </a:solidFill>
          <a:ln/>
        </p:spPr>
        <p:txBody>
          <a:bodyPr wrap="square" rtlCol="0" anchor="ctr"/>
          <a:lstStyle/>
          <a:p>
            <a:pPr indent="0" marL="0">
              <a:buNone/>
            </a:pPr>
            <a:endParaRPr lang="en-US" dirty="0"/>
          </a:p>
        </p:txBody>
      </p:sp>
      <p:sp>
        <p:nvSpPr>
          <p:cNvPr id="7" name="Shape 4"/>
          <p:cNvSpPr/>
          <p:nvPr/>
        </p:nvSpPr>
        <p:spPr>
          <a:xfrm>
            <a:off x="531763" y="2028527"/>
            <a:ext cx="0" cy="1262955"/>
          </a:xfrm>
          <a:prstGeom prst="line">
            <a:avLst/>
          </a:prstGeom>
          <a:noFill/>
          <a:ln w="47625">
            <a:solidFill>
              <a:srgbClr val="A855F7"/>
            </a:solidFill>
            <a:prstDash val="solid"/>
          </a:ln>
        </p:spPr>
      </p:sp>
      <p:sp>
        <p:nvSpPr>
          <p:cNvPr id="8" name="Text 5"/>
          <p:cNvSpPr/>
          <p:nvPr/>
        </p:nvSpPr>
        <p:spPr>
          <a:xfrm>
            <a:off x="746075" y="2219027"/>
            <a:ext cx="2101736"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350M+</a:t>
            </a:r>
            <a:endParaRPr lang="en-US" sz="3000" dirty="0"/>
          </a:p>
        </p:txBody>
      </p:sp>
      <p:sp>
        <p:nvSpPr>
          <p:cNvPr id="9" name="Text 6"/>
          <p:cNvSpPr/>
          <p:nvPr/>
        </p:nvSpPr>
        <p:spPr>
          <a:xfrm>
            <a:off x="746075" y="2723852"/>
            <a:ext cx="2101736"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registered vehicles in India — and rising fast</a:t>
            </a:r>
            <a:endParaRPr lang="en-US" sz="1100" dirty="0"/>
          </a:p>
        </p:txBody>
      </p:sp>
      <p:sp>
        <p:nvSpPr>
          <p:cNvPr id="10" name="Text 7"/>
          <p:cNvSpPr/>
          <p:nvPr/>
        </p:nvSpPr>
        <p:spPr>
          <a:xfrm>
            <a:off x="3136702" y="2028527"/>
            <a:ext cx="2489150" cy="1262955"/>
          </a:xfrm>
          <a:prstGeom prst="roundRect">
            <a:avLst>
              <a:gd name="adj" fmla="val 9050"/>
            </a:avLst>
          </a:prstGeom>
          <a:solidFill>
            <a:srgbClr val="15131F"/>
          </a:solidFill>
          <a:ln/>
        </p:spPr>
        <p:txBody>
          <a:bodyPr wrap="square" rtlCol="0" anchor="ctr"/>
          <a:lstStyle/>
          <a:p>
            <a:pPr indent="0" marL="0">
              <a:buNone/>
            </a:pPr>
            <a:endParaRPr lang="en-US" dirty="0"/>
          </a:p>
        </p:txBody>
      </p:sp>
      <p:sp>
        <p:nvSpPr>
          <p:cNvPr id="11" name="Shape 8"/>
          <p:cNvSpPr/>
          <p:nvPr/>
        </p:nvSpPr>
        <p:spPr>
          <a:xfrm>
            <a:off x="3160514" y="2028527"/>
            <a:ext cx="0" cy="1262955"/>
          </a:xfrm>
          <a:prstGeom prst="line">
            <a:avLst/>
          </a:prstGeom>
          <a:noFill/>
          <a:ln w="47625">
            <a:solidFill>
              <a:srgbClr val="A855F7"/>
            </a:solidFill>
            <a:prstDash val="solid"/>
          </a:ln>
        </p:spPr>
      </p:sp>
      <p:sp>
        <p:nvSpPr>
          <p:cNvPr id="12" name="Text 9"/>
          <p:cNvSpPr/>
          <p:nvPr/>
        </p:nvSpPr>
        <p:spPr>
          <a:xfrm>
            <a:off x="3374827" y="2219027"/>
            <a:ext cx="2101736"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15–20 min</a:t>
            </a:r>
            <a:endParaRPr lang="en-US" sz="3000" dirty="0"/>
          </a:p>
        </p:txBody>
      </p:sp>
      <p:sp>
        <p:nvSpPr>
          <p:cNvPr id="13" name="Text 10"/>
          <p:cNvSpPr/>
          <p:nvPr/>
        </p:nvSpPr>
        <p:spPr>
          <a:xfrm>
            <a:off x="3374827" y="2723852"/>
            <a:ext cx="2101736"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average time wasted searching for a spot per trip</a:t>
            </a:r>
            <a:endParaRPr lang="en-US" sz="1100" dirty="0"/>
          </a:p>
        </p:txBody>
      </p:sp>
      <p:sp>
        <p:nvSpPr>
          <p:cNvPr id="14" name="Text 11"/>
          <p:cNvSpPr/>
          <p:nvPr/>
        </p:nvSpPr>
        <p:spPr>
          <a:xfrm>
            <a:off x="5765453" y="2028527"/>
            <a:ext cx="2489150" cy="1262955"/>
          </a:xfrm>
          <a:prstGeom prst="roundRect">
            <a:avLst>
              <a:gd name="adj" fmla="val 9050"/>
            </a:avLst>
          </a:prstGeom>
          <a:solidFill>
            <a:srgbClr val="15131F"/>
          </a:solidFill>
          <a:ln/>
        </p:spPr>
        <p:txBody>
          <a:bodyPr wrap="square" rtlCol="0" anchor="ctr"/>
          <a:lstStyle/>
          <a:p>
            <a:pPr indent="0" marL="0">
              <a:buNone/>
            </a:pPr>
            <a:endParaRPr lang="en-US" dirty="0"/>
          </a:p>
        </p:txBody>
      </p:sp>
      <p:sp>
        <p:nvSpPr>
          <p:cNvPr id="15" name="Shape 12"/>
          <p:cNvSpPr/>
          <p:nvPr/>
        </p:nvSpPr>
        <p:spPr>
          <a:xfrm>
            <a:off x="5789265" y="2028527"/>
            <a:ext cx="0" cy="1262955"/>
          </a:xfrm>
          <a:prstGeom prst="line">
            <a:avLst/>
          </a:prstGeom>
          <a:noFill/>
          <a:ln w="47625">
            <a:solidFill>
              <a:srgbClr val="A855F7"/>
            </a:solidFill>
            <a:prstDash val="solid"/>
          </a:ln>
        </p:spPr>
      </p:sp>
      <p:sp>
        <p:nvSpPr>
          <p:cNvPr id="16" name="Text 13"/>
          <p:cNvSpPr/>
          <p:nvPr/>
        </p:nvSpPr>
        <p:spPr>
          <a:xfrm>
            <a:off x="6003578" y="2219027"/>
            <a:ext cx="2101736"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#1</a:t>
            </a:r>
            <a:endParaRPr lang="en-US" sz="3000" dirty="0"/>
          </a:p>
        </p:txBody>
      </p:sp>
      <p:sp>
        <p:nvSpPr>
          <p:cNvPr id="17" name="Text 14"/>
          <p:cNvSpPr/>
          <p:nvPr/>
        </p:nvSpPr>
        <p:spPr>
          <a:xfrm>
            <a:off x="6003578" y="2723852"/>
            <a:ext cx="2101736"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improper parking is among the most common traffic violations</a:t>
            </a:r>
            <a:endParaRPr lang="en-US" sz="1100" dirty="0"/>
          </a:p>
        </p:txBody>
      </p:sp>
      <p:sp>
        <p:nvSpPr>
          <p:cNvPr id="18" name="Text 15"/>
          <p:cNvSpPr/>
          <p:nvPr/>
        </p:nvSpPr>
        <p:spPr>
          <a:xfrm>
            <a:off x="507950" y="4648200"/>
            <a:ext cx="8290661" cy="114300"/>
          </a:xfrm>
          <a:prstGeom prst="rect">
            <a:avLst/>
          </a:prstGeom>
          <a:noFill/>
          <a:ln/>
        </p:spPr>
        <p:txBody>
          <a:bodyPr wrap="square" lIns="0" tIns="0" rIns="0" bIns="0" rtlCol="0" anchor="t"/>
          <a:lstStyle/>
          <a:p>
            <a:pPr algn="l" indent="0" marL="0">
              <a:spcBef>
                <a:spcPts val="10683"/>
              </a:spcBef>
              <a:buNone/>
            </a:pPr>
            <a:r>
              <a:rPr lang="en-US" sz="800" dirty="0">
                <a:solidFill>
                  <a:srgbClr val="5B5F73"/>
                </a:solidFill>
                <a:latin typeface="Arial" pitchFamily="34" charset="0"/>
                <a:ea typeface="Arial" pitchFamily="34" charset="-122"/>
                <a:cs typeface="Arial" pitchFamily="34" charset="-120"/>
              </a:rPr>
              <a:t>Figures are from publicly reported sources; verify and cite live sources before publishing.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THE NUMBERS</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Improper parking, by the figures.</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Text 2"/>
          <p:cNvSpPr/>
          <p:nvPr/>
        </p:nvSpPr>
        <p:spPr>
          <a:xfrm>
            <a:off x="507950" y="1504652"/>
            <a:ext cx="2489150" cy="1262955"/>
          </a:xfrm>
          <a:prstGeom prst="roundRect">
            <a:avLst>
              <a:gd name="adj" fmla="val 9050"/>
            </a:avLst>
          </a:prstGeom>
          <a:solidFill>
            <a:srgbClr val="15131F"/>
          </a:solidFill>
          <a:ln/>
        </p:spPr>
        <p:txBody>
          <a:bodyPr wrap="square" rtlCol="0" anchor="ctr"/>
          <a:lstStyle/>
          <a:p>
            <a:pPr indent="0" marL="0">
              <a:buNone/>
            </a:pPr>
            <a:endParaRPr lang="en-US" dirty="0"/>
          </a:p>
        </p:txBody>
      </p:sp>
      <p:sp>
        <p:nvSpPr>
          <p:cNvPr id="6" name="Shape 3"/>
          <p:cNvSpPr/>
          <p:nvPr/>
        </p:nvSpPr>
        <p:spPr>
          <a:xfrm>
            <a:off x="531763" y="1504652"/>
            <a:ext cx="0" cy="1262955"/>
          </a:xfrm>
          <a:prstGeom prst="line">
            <a:avLst/>
          </a:prstGeom>
          <a:noFill/>
          <a:ln w="47625">
            <a:solidFill>
              <a:srgbClr val="A855F7"/>
            </a:solidFill>
            <a:prstDash val="solid"/>
          </a:ln>
        </p:spPr>
      </p:sp>
      <p:sp>
        <p:nvSpPr>
          <p:cNvPr id="7" name="Text 4"/>
          <p:cNvSpPr/>
          <p:nvPr/>
        </p:nvSpPr>
        <p:spPr>
          <a:xfrm>
            <a:off x="746075" y="1695152"/>
            <a:ext cx="2101736"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8 Cr+</a:t>
            </a:r>
            <a:endParaRPr lang="en-US" sz="3000" dirty="0"/>
          </a:p>
        </p:txBody>
      </p:sp>
      <p:sp>
        <p:nvSpPr>
          <p:cNvPr id="8" name="Text 5"/>
          <p:cNvSpPr/>
          <p:nvPr/>
        </p:nvSpPr>
        <p:spPr>
          <a:xfrm>
            <a:off x="746075" y="2199977"/>
            <a:ext cx="2101736"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traffic challans issued across India every year</a:t>
            </a:r>
            <a:endParaRPr lang="en-US" sz="1100" dirty="0"/>
          </a:p>
        </p:txBody>
      </p:sp>
      <p:sp>
        <p:nvSpPr>
          <p:cNvPr id="9" name="Text 6"/>
          <p:cNvSpPr/>
          <p:nvPr/>
        </p:nvSpPr>
        <p:spPr>
          <a:xfrm>
            <a:off x="3136702" y="1504652"/>
            <a:ext cx="2489150" cy="1262955"/>
          </a:xfrm>
          <a:prstGeom prst="roundRect">
            <a:avLst>
              <a:gd name="adj" fmla="val 9050"/>
            </a:avLst>
          </a:prstGeom>
          <a:solidFill>
            <a:srgbClr val="15131F"/>
          </a:solidFill>
          <a:ln/>
        </p:spPr>
        <p:txBody>
          <a:bodyPr wrap="square" rtlCol="0" anchor="ctr"/>
          <a:lstStyle/>
          <a:p>
            <a:pPr indent="0" marL="0">
              <a:buNone/>
            </a:pPr>
            <a:endParaRPr lang="en-US" dirty="0"/>
          </a:p>
        </p:txBody>
      </p:sp>
      <p:sp>
        <p:nvSpPr>
          <p:cNvPr id="10" name="Shape 7"/>
          <p:cNvSpPr/>
          <p:nvPr/>
        </p:nvSpPr>
        <p:spPr>
          <a:xfrm>
            <a:off x="3160514" y="1504652"/>
            <a:ext cx="0" cy="1262955"/>
          </a:xfrm>
          <a:prstGeom prst="line">
            <a:avLst/>
          </a:prstGeom>
          <a:noFill/>
          <a:ln w="47625">
            <a:solidFill>
              <a:srgbClr val="A855F7"/>
            </a:solidFill>
            <a:prstDash val="solid"/>
          </a:ln>
        </p:spPr>
      </p:sp>
      <p:sp>
        <p:nvSpPr>
          <p:cNvPr id="11" name="Text 8"/>
          <p:cNvSpPr/>
          <p:nvPr/>
        </p:nvSpPr>
        <p:spPr>
          <a:xfrm>
            <a:off x="3374827" y="1695152"/>
            <a:ext cx="2101736"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2.7 lakh</a:t>
            </a:r>
            <a:endParaRPr lang="en-US" sz="3000" dirty="0"/>
          </a:p>
        </p:txBody>
      </p:sp>
      <p:sp>
        <p:nvSpPr>
          <p:cNvPr id="12" name="Text 9"/>
          <p:cNvSpPr/>
          <p:nvPr/>
        </p:nvSpPr>
        <p:spPr>
          <a:xfrm>
            <a:off x="3374827" y="2199977"/>
            <a:ext cx="2101736"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illegal-parking challans in Noida in a single year</a:t>
            </a:r>
            <a:endParaRPr lang="en-US" sz="1100" dirty="0"/>
          </a:p>
        </p:txBody>
      </p:sp>
      <p:sp>
        <p:nvSpPr>
          <p:cNvPr id="13" name="Text 10"/>
          <p:cNvSpPr/>
          <p:nvPr/>
        </p:nvSpPr>
        <p:spPr>
          <a:xfrm>
            <a:off x="5765453" y="1504652"/>
            <a:ext cx="2489150" cy="1262955"/>
          </a:xfrm>
          <a:prstGeom prst="roundRect">
            <a:avLst>
              <a:gd name="adj" fmla="val 9050"/>
            </a:avLst>
          </a:prstGeom>
          <a:solidFill>
            <a:srgbClr val="15131F"/>
          </a:solidFill>
          <a:ln/>
        </p:spPr>
        <p:txBody>
          <a:bodyPr wrap="square" rtlCol="0" anchor="ctr"/>
          <a:lstStyle/>
          <a:p>
            <a:pPr indent="0" marL="0">
              <a:buNone/>
            </a:pPr>
            <a:endParaRPr lang="en-US" dirty="0"/>
          </a:p>
        </p:txBody>
      </p:sp>
      <p:sp>
        <p:nvSpPr>
          <p:cNvPr id="14" name="Shape 11"/>
          <p:cNvSpPr/>
          <p:nvPr/>
        </p:nvSpPr>
        <p:spPr>
          <a:xfrm>
            <a:off x="5789265" y="1504652"/>
            <a:ext cx="0" cy="1262955"/>
          </a:xfrm>
          <a:prstGeom prst="line">
            <a:avLst/>
          </a:prstGeom>
          <a:noFill/>
          <a:ln w="47625">
            <a:solidFill>
              <a:srgbClr val="A855F7"/>
            </a:solidFill>
            <a:prstDash val="solid"/>
          </a:ln>
        </p:spPr>
      </p:sp>
      <p:sp>
        <p:nvSpPr>
          <p:cNvPr id="15" name="Text 12"/>
          <p:cNvSpPr/>
          <p:nvPr/>
        </p:nvSpPr>
        <p:spPr>
          <a:xfrm>
            <a:off x="6003578" y="1695152"/>
            <a:ext cx="2101736"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~65,000</a:t>
            </a:r>
            <a:endParaRPr lang="en-US" sz="3000" dirty="0"/>
          </a:p>
        </p:txBody>
      </p:sp>
      <p:sp>
        <p:nvSpPr>
          <p:cNvPr id="16" name="Text 13"/>
          <p:cNvSpPr/>
          <p:nvPr/>
        </p:nvSpPr>
        <p:spPr>
          <a:xfrm>
            <a:off x="6003578" y="2199977"/>
            <a:ext cx="2101736"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illegal-parking challans issued in Delhi every month</a:t>
            </a:r>
            <a:endParaRPr lang="en-US" sz="1100" dirty="0"/>
          </a:p>
        </p:txBody>
      </p:sp>
      <p:sp>
        <p:nvSpPr>
          <p:cNvPr id="17" name="Text 14"/>
          <p:cNvSpPr/>
          <p:nvPr/>
        </p:nvSpPr>
        <p:spPr>
          <a:xfrm>
            <a:off x="507950" y="3021509"/>
            <a:ext cx="7901889" cy="460474"/>
          </a:xfrm>
          <a:prstGeom prst="rect">
            <a:avLst/>
          </a:prstGeom>
          <a:noFill/>
          <a:ln/>
        </p:spPr>
        <p:txBody>
          <a:bodyPr wrap="square" lIns="0" tIns="0" rIns="0" bIns="0" rtlCol="0" anchor="t"/>
          <a:lstStyle/>
          <a:p>
            <a:pPr algn="l" indent="0" marL="0">
              <a:lnSpc>
                <a:spcPts val="1813"/>
              </a:lnSpc>
              <a:spcBef>
                <a:spcPts val="2000"/>
              </a:spcBef>
              <a:buNone/>
            </a:pPr>
            <a:r>
              <a:rPr lang="en-US" sz="1250" dirty="0">
                <a:solidFill>
                  <a:srgbClr val="9AA0B5"/>
                </a:solidFill>
                <a:latin typeface="Arial" pitchFamily="34" charset="0"/>
                <a:ea typeface="Arial" pitchFamily="34" charset="-122"/>
                <a:cs typeface="Arial" pitchFamily="34" charset="-120"/>
              </a:rPr>
              <a:t>That’s roughly </a:t>
            </a:r>
            <a:pPr algn="l" indent="0" marL="0">
              <a:lnSpc>
                <a:spcPts val="1813"/>
              </a:lnSpc>
              <a:spcBef>
                <a:spcPts val="2000"/>
              </a:spcBef>
              <a:buNone/>
            </a:pPr>
            <a:r>
              <a:rPr lang="en-US" sz="1250" b="1" dirty="0">
                <a:solidFill>
                  <a:srgbClr val="E879F9"/>
                </a:solidFill>
                <a:latin typeface="Arial" pitchFamily="34" charset="0"/>
                <a:ea typeface="Arial" pitchFamily="34" charset="-122"/>
                <a:cs typeface="Arial" pitchFamily="34" charset="-120"/>
              </a:rPr>
              <a:t>7.8 lakh</a:t>
            </a:r>
            <a:pPr algn="l" indent="0" marL="0">
              <a:lnSpc>
                <a:spcPts val="1813"/>
              </a:lnSpc>
              <a:spcBef>
                <a:spcPts val="2000"/>
              </a:spcBef>
              <a:buNone/>
            </a:pPr>
            <a:r>
              <a:rPr lang="en-US" sz="1250" dirty="0">
                <a:solidFill>
                  <a:srgbClr val="9AA0B5"/>
                </a:solidFill>
                <a:latin typeface="Arial" pitchFamily="34" charset="0"/>
                <a:ea typeface="Arial" pitchFamily="34" charset="-122"/>
                <a:cs typeface="Arial" pitchFamily="34" charset="-120"/>
              </a:rPr>
              <a:t> parking challans a year in Delhi alone. Behind every fine is a driver who simply couldn’t find a legal place to park.</a:t>
            </a:r>
            <a:endParaRPr lang="en-US" sz="1250" dirty="0"/>
          </a:p>
        </p:txBody>
      </p:sp>
      <p:sp>
        <p:nvSpPr>
          <p:cNvPr id="18" name="Text 15"/>
          <p:cNvSpPr/>
          <p:nvPr/>
        </p:nvSpPr>
        <p:spPr>
          <a:xfrm>
            <a:off x="507950" y="4648200"/>
            <a:ext cx="8290661" cy="114300"/>
          </a:xfrm>
          <a:prstGeom prst="rect">
            <a:avLst/>
          </a:prstGeom>
          <a:noFill/>
          <a:ln/>
        </p:spPr>
        <p:txBody>
          <a:bodyPr wrap="square" lIns="0" tIns="0" rIns="0" bIns="0" rtlCol="0" anchor="t"/>
          <a:lstStyle/>
          <a:p>
            <a:pPr algn="l" indent="0" marL="0">
              <a:spcBef>
                <a:spcPts val="9183"/>
              </a:spcBef>
              <a:buNone/>
            </a:pPr>
            <a:r>
              <a:rPr lang="en-US" sz="800" dirty="0">
                <a:solidFill>
                  <a:srgbClr val="5B5F73"/>
                </a:solidFill>
                <a:latin typeface="Arial" pitchFamily="34" charset="0"/>
                <a:ea typeface="Arial" pitchFamily="34" charset="-122"/>
                <a:cs typeface="Arial" pitchFamily="34" charset="-120"/>
              </a:rPr>
              <a:t>Reported figures (Noida Traffic Police / Delhi Traffic Police, press reports). Confirm exact numbers and citations before public use.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THE HIDDEN COST</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Every wasted minute adds up.</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Text 2"/>
          <p:cNvSpPr/>
          <p:nvPr/>
        </p:nvSpPr>
        <p:spPr>
          <a:xfrm>
            <a:off x="507950" y="1504652"/>
            <a:ext cx="2489150" cy="1691580"/>
          </a:xfrm>
          <a:prstGeom prst="roundRect">
            <a:avLst>
              <a:gd name="adj" fmla="val 6757"/>
            </a:avLst>
          </a:prstGeom>
          <a:solidFill>
            <a:srgbClr val="15131F"/>
          </a:solidFill>
          <a:ln/>
        </p:spPr>
        <p:txBody>
          <a:bodyPr wrap="square" rtlCol="0" anchor="ctr"/>
          <a:lstStyle/>
          <a:p>
            <a:pPr indent="0" marL="0">
              <a:buNone/>
            </a:pPr>
            <a:endParaRPr lang="en-US" dirty="0"/>
          </a:p>
        </p:txBody>
      </p:sp>
      <p:sp>
        <p:nvSpPr>
          <p:cNvPr id="6" name="Shape 3"/>
          <p:cNvSpPr/>
          <p:nvPr/>
        </p:nvSpPr>
        <p:spPr>
          <a:xfrm>
            <a:off x="531763" y="1504652"/>
            <a:ext cx="0" cy="1691580"/>
          </a:xfrm>
          <a:prstGeom prst="line">
            <a:avLst/>
          </a:prstGeom>
          <a:noFill/>
          <a:ln w="47625">
            <a:solidFill>
              <a:srgbClr val="A855F7"/>
            </a:solidFill>
            <a:prstDash val="solid"/>
          </a:ln>
        </p:spPr>
      </p:sp>
      <p:sp>
        <p:nvSpPr>
          <p:cNvPr id="7" name="Text 4"/>
          <p:cNvSpPr/>
          <p:nvPr/>
        </p:nvSpPr>
        <p:spPr>
          <a:xfrm>
            <a:off x="746075" y="1695152"/>
            <a:ext cx="2101736"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30%</a:t>
            </a:r>
            <a:endParaRPr lang="en-US" sz="3000" dirty="0"/>
          </a:p>
        </p:txBody>
      </p:sp>
      <p:sp>
        <p:nvSpPr>
          <p:cNvPr id="8" name="Text 5"/>
          <p:cNvSpPr/>
          <p:nvPr/>
        </p:nvSpPr>
        <p:spPr>
          <a:xfrm>
            <a:off x="746075" y="2199977"/>
            <a:ext cx="2101736" cy="565696"/>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of urban traffic congestion is linked to drivers hunting for parking</a:t>
            </a:r>
            <a:endParaRPr lang="en-US" sz="1100" dirty="0"/>
          </a:p>
        </p:txBody>
      </p:sp>
      <p:sp>
        <p:nvSpPr>
          <p:cNvPr id="9" name="Text 6"/>
          <p:cNvSpPr/>
          <p:nvPr/>
        </p:nvSpPr>
        <p:spPr>
          <a:xfrm>
            <a:off x="3136702" y="1504652"/>
            <a:ext cx="2489150" cy="1691580"/>
          </a:xfrm>
          <a:prstGeom prst="roundRect">
            <a:avLst>
              <a:gd name="adj" fmla="val 6757"/>
            </a:avLst>
          </a:prstGeom>
          <a:solidFill>
            <a:srgbClr val="15131F"/>
          </a:solidFill>
          <a:ln/>
        </p:spPr>
        <p:txBody>
          <a:bodyPr wrap="square" rtlCol="0" anchor="ctr"/>
          <a:lstStyle/>
          <a:p>
            <a:pPr indent="0" marL="0">
              <a:buNone/>
            </a:pPr>
            <a:endParaRPr lang="en-US" dirty="0"/>
          </a:p>
        </p:txBody>
      </p:sp>
      <p:sp>
        <p:nvSpPr>
          <p:cNvPr id="10" name="Shape 7"/>
          <p:cNvSpPr/>
          <p:nvPr/>
        </p:nvSpPr>
        <p:spPr>
          <a:xfrm>
            <a:off x="3160514" y="1504652"/>
            <a:ext cx="0" cy="1691580"/>
          </a:xfrm>
          <a:prstGeom prst="line">
            <a:avLst/>
          </a:prstGeom>
          <a:noFill/>
          <a:ln w="47625">
            <a:solidFill>
              <a:srgbClr val="A855F7"/>
            </a:solidFill>
            <a:prstDash val="solid"/>
          </a:ln>
        </p:spPr>
      </p:sp>
      <p:sp>
        <p:nvSpPr>
          <p:cNvPr id="11" name="Text 8"/>
          <p:cNvSpPr/>
          <p:nvPr/>
        </p:nvSpPr>
        <p:spPr>
          <a:xfrm>
            <a:off x="3374827" y="1695152"/>
            <a:ext cx="2101736" cy="857250"/>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Wasted fuel</a:t>
            </a:r>
            <a:endParaRPr lang="en-US" sz="3000" dirty="0"/>
          </a:p>
        </p:txBody>
      </p:sp>
      <p:sp>
        <p:nvSpPr>
          <p:cNvPr id="12" name="Text 9"/>
          <p:cNvSpPr/>
          <p:nvPr/>
        </p:nvSpPr>
        <p:spPr>
          <a:xfrm>
            <a:off x="3374827" y="2628602"/>
            <a:ext cx="2101736"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circling burns fuel and money on every single trip</a:t>
            </a:r>
            <a:endParaRPr lang="en-US" sz="1100" dirty="0"/>
          </a:p>
        </p:txBody>
      </p:sp>
      <p:sp>
        <p:nvSpPr>
          <p:cNvPr id="13" name="Text 10"/>
          <p:cNvSpPr/>
          <p:nvPr/>
        </p:nvSpPr>
        <p:spPr>
          <a:xfrm>
            <a:off x="5765453" y="1504652"/>
            <a:ext cx="2489150" cy="1691580"/>
          </a:xfrm>
          <a:prstGeom prst="roundRect">
            <a:avLst>
              <a:gd name="adj" fmla="val 6757"/>
            </a:avLst>
          </a:prstGeom>
          <a:solidFill>
            <a:srgbClr val="15131F"/>
          </a:solidFill>
          <a:ln/>
        </p:spPr>
        <p:txBody>
          <a:bodyPr wrap="square" rtlCol="0" anchor="ctr"/>
          <a:lstStyle/>
          <a:p>
            <a:pPr indent="0" marL="0">
              <a:buNone/>
            </a:pPr>
            <a:endParaRPr lang="en-US" dirty="0"/>
          </a:p>
        </p:txBody>
      </p:sp>
      <p:sp>
        <p:nvSpPr>
          <p:cNvPr id="14" name="Shape 11"/>
          <p:cNvSpPr/>
          <p:nvPr/>
        </p:nvSpPr>
        <p:spPr>
          <a:xfrm>
            <a:off x="5789265" y="1504652"/>
            <a:ext cx="0" cy="1691580"/>
          </a:xfrm>
          <a:prstGeom prst="line">
            <a:avLst/>
          </a:prstGeom>
          <a:noFill/>
          <a:ln w="47625">
            <a:solidFill>
              <a:srgbClr val="A855F7"/>
            </a:solidFill>
            <a:prstDash val="solid"/>
          </a:ln>
        </p:spPr>
      </p:sp>
      <p:sp>
        <p:nvSpPr>
          <p:cNvPr id="15" name="Text 12"/>
          <p:cNvSpPr/>
          <p:nvPr/>
        </p:nvSpPr>
        <p:spPr>
          <a:xfrm>
            <a:off x="6003578" y="1695152"/>
            <a:ext cx="2101736" cy="438150"/>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More CO₂</a:t>
            </a:r>
            <a:endParaRPr lang="en-US" sz="3000" dirty="0"/>
          </a:p>
        </p:txBody>
      </p:sp>
      <p:sp>
        <p:nvSpPr>
          <p:cNvPr id="16" name="Text 13"/>
          <p:cNvSpPr/>
          <p:nvPr/>
        </p:nvSpPr>
        <p:spPr>
          <a:xfrm>
            <a:off x="6003578" y="2209502"/>
            <a:ext cx="2101736"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needless idling and driving raises emissions in dense cities</a:t>
            </a:r>
            <a:endParaRPr lang="en-US" sz="1100" dirty="0"/>
          </a:p>
        </p:txBody>
      </p:sp>
      <p:sp>
        <p:nvSpPr>
          <p:cNvPr id="17" name="Text 14"/>
          <p:cNvSpPr/>
          <p:nvPr/>
        </p:nvSpPr>
        <p:spPr>
          <a:xfrm>
            <a:off x="507950" y="3450134"/>
            <a:ext cx="7901889" cy="460474"/>
          </a:xfrm>
          <a:prstGeom prst="rect">
            <a:avLst/>
          </a:prstGeom>
          <a:noFill/>
          <a:ln/>
        </p:spPr>
        <p:txBody>
          <a:bodyPr wrap="square" lIns="0" tIns="0" rIns="0" bIns="0" rtlCol="0" anchor="t"/>
          <a:lstStyle/>
          <a:p>
            <a:pPr algn="l" indent="0" marL="0">
              <a:lnSpc>
                <a:spcPts val="1813"/>
              </a:lnSpc>
              <a:spcBef>
                <a:spcPts val="2000"/>
              </a:spcBef>
              <a:buNone/>
            </a:pPr>
            <a:r>
              <a:rPr lang="en-US" sz="1250" dirty="0">
                <a:solidFill>
                  <a:srgbClr val="9AA0B5"/>
                </a:solidFill>
                <a:latin typeface="Arial" pitchFamily="34" charset="0"/>
                <a:ea typeface="Arial" pitchFamily="34" charset="-122"/>
                <a:cs typeface="Arial" pitchFamily="34" charset="-120"/>
              </a:rPr>
              <a:t>The cost isn’t just the fine. It’s lost time, fuel, pollution, road rage and clogged streets — a tax paid by every driver, every day.</a:t>
            </a:r>
            <a:endParaRPr lang="en-US" sz="1250" dirty="0"/>
          </a:p>
        </p:txBody>
      </p:sp>
      <p:sp>
        <p:nvSpPr>
          <p:cNvPr id="18" name="Text 15"/>
          <p:cNvSpPr/>
          <p:nvPr/>
        </p:nvSpPr>
        <p:spPr>
          <a:xfrm>
            <a:off x="507950" y="4648200"/>
            <a:ext cx="8290661" cy="114300"/>
          </a:xfrm>
          <a:prstGeom prst="rect">
            <a:avLst/>
          </a:prstGeom>
          <a:noFill/>
          <a:ln/>
        </p:spPr>
        <p:txBody>
          <a:bodyPr wrap="square" lIns="0" tIns="0" rIns="0" bIns="0" rtlCol="0" anchor="t"/>
          <a:lstStyle/>
          <a:p>
            <a:pPr algn="l" indent="0" marL="0">
              <a:spcBef>
                <a:spcPts val="5808"/>
              </a:spcBef>
              <a:buNone/>
            </a:pPr>
            <a:r>
              <a:rPr lang="en-US" sz="800" dirty="0">
                <a:solidFill>
                  <a:srgbClr val="5B5F73"/>
                </a:solidFill>
                <a:latin typeface="Arial" pitchFamily="34" charset="0"/>
                <a:ea typeface="Arial" pitchFamily="34" charset="-122"/>
                <a:cs typeface="Arial" pitchFamily="34" charset="-120"/>
              </a:rPr>
              <a:t>Congestion share attributable to parking search is an industry-cited estimate; verify before publishing.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THE SOLUTION</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ParkEase — a guaranteed spot, before you arrive.</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Text 2"/>
          <p:cNvSpPr/>
          <p:nvPr/>
        </p:nvSpPr>
        <p:spPr>
          <a:xfrm>
            <a:off x="507950" y="1314152"/>
            <a:ext cx="8031379" cy="460474"/>
          </a:xfrm>
          <a:prstGeom prst="rect">
            <a:avLst/>
          </a:prstGeom>
          <a:noFill/>
          <a:ln/>
        </p:spPr>
        <p:txBody>
          <a:bodyPr wrap="square" lIns="0" tIns="0" rIns="0" bIns="0" rtlCol="0" anchor="t"/>
          <a:lstStyle/>
          <a:p>
            <a:pPr algn="l" indent="0" marL="0">
              <a:lnSpc>
                <a:spcPts val="1813"/>
              </a:lnSpc>
              <a:spcBef>
                <a:spcPts val="700"/>
              </a:spcBef>
              <a:buNone/>
            </a:pPr>
            <a:r>
              <a:rPr lang="en-US" sz="1250" dirty="0">
                <a:solidFill>
                  <a:srgbClr val="9AA0B5"/>
                </a:solidFill>
                <a:latin typeface="Arial" pitchFamily="34" charset="0"/>
                <a:ea typeface="Arial" pitchFamily="34" charset="-122"/>
                <a:cs typeface="Arial" pitchFamily="34" charset="-120"/>
              </a:rPr>
              <a:t>A web platform that aggregates commercial lots, street parking and private spaces onto one live map — so drivers reserve and pay in advance, and owners earn from space they already have.</a:t>
            </a:r>
            <a:endParaRPr lang="en-US" sz="1250" dirty="0"/>
          </a:p>
        </p:txBody>
      </p:sp>
      <p:sp>
        <p:nvSpPr>
          <p:cNvPr id="6" name="Text 3"/>
          <p:cNvSpPr/>
          <p:nvPr/>
        </p:nvSpPr>
        <p:spPr>
          <a:xfrm>
            <a:off x="507950" y="2028527"/>
            <a:ext cx="3810000" cy="1545878"/>
          </a:xfrm>
          <a:prstGeom prst="roundRect">
            <a:avLst>
              <a:gd name="adj" fmla="val 9037"/>
            </a:avLst>
          </a:prstGeom>
          <a:solidFill>
            <a:srgbClr val="15131F"/>
          </a:solidFill>
          <a:ln w="9525">
            <a:solidFill>
              <a:srgbClr val="2A2740"/>
            </a:solidFill>
          </a:ln>
        </p:spPr>
        <p:txBody>
          <a:bodyPr wrap="square" rtlCol="0" anchor="ctr"/>
          <a:lstStyle/>
          <a:p>
            <a:pPr indent="0" marL="0">
              <a:buNone/>
            </a:pPr>
            <a:endParaRPr lang="en-US" dirty="0"/>
          </a:p>
        </p:txBody>
      </p:sp>
      <p:sp>
        <p:nvSpPr>
          <p:cNvPr id="7" name="Text 4"/>
          <p:cNvSpPr/>
          <p:nvPr/>
        </p:nvSpPr>
        <p:spPr>
          <a:xfrm>
            <a:off x="720626" y="2241203"/>
            <a:ext cx="3452342" cy="209550"/>
          </a:xfrm>
          <a:prstGeom prst="rect">
            <a:avLst/>
          </a:prstGeom>
          <a:noFill/>
          <a:ln/>
        </p:spPr>
        <p:txBody>
          <a:bodyPr wrap="square" lIns="0" tIns="0" rIns="0" bIns="0" rtlCol="0" anchor="t"/>
          <a:lstStyle/>
          <a:p>
            <a:pPr algn="l" indent="0" marL="0">
              <a:buNone/>
            </a:pPr>
            <a:r>
              <a:rPr lang="en-US" sz="1400" b="1" dirty="0">
                <a:solidFill>
                  <a:srgbClr val="C084FC"/>
                </a:solidFill>
                <a:latin typeface="Arial" pitchFamily="34" charset="0"/>
                <a:ea typeface="Arial" pitchFamily="34" charset="-122"/>
                <a:cs typeface="Arial" pitchFamily="34" charset="-120"/>
              </a:rPr>
              <a:t>For Drivers</a:t>
            </a:r>
            <a:endParaRPr lang="en-US" sz="1400" dirty="0"/>
          </a:p>
        </p:txBody>
      </p:sp>
      <p:sp>
        <p:nvSpPr>
          <p:cNvPr id="8" name="Text 5"/>
          <p:cNvSpPr/>
          <p:nvPr/>
        </p:nvSpPr>
        <p:spPr>
          <a:xfrm>
            <a:off x="720626" y="2552254"/>
            <a:ext cx="3384649" cy="809476"/>
          </a:xfrm>
          <a:prstGeom prst="rect">
            <a:avLst/>
          </a:prstGeom>
          <a:noFill/>
          <a:ln/>
        </p:spPr>
        <p:txBody>
          <a:bodyPr wrap="square" lIns="88900" tIns="0" rIns="0" bIns="0" rtlCol="0" anchor="t"/>
          <a:lstStyle/>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See real-time availability on a map</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Reserve &amp; pay — spot held before arrival</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QR-pass entry, receipts, reviews</a:t>
            </a:r>
            <a:endParaRPr lang="en-US" sz="1250" dirty="0"/>
          </a:p>
        </p:txBody>
      </p:sp>
      <p:sp>
        <p:nvSpPr>
          <p:cNvPr id="9" name="Text 6"/>
          <p:cNvSpPr/>
          <p:nvPr/>
        </p:nvSpPr>
        <p:spPr>
          <a:xfrm>
            <a:off x="4495651" y="2028527"/>
            <a:ext cx="3810000" cy="1545878"/>
          </a:xfrm>
          <a:prstGeom prst="roundRect">
            <a:avLst>
              <a:gd name="adj" fmla="val 9037"/>
            </a:avLst>
          </a:prstGeom>
          <a:solidFill>
            <a:srgbClr val="15131F"/>
          </a:solidFill>
          <a:ln w="9525">
            <a:solidFill>
              <a:srgbClr val="2A2740"/>
            </a:solidFill>
          </a:ln>
        </p:spPr>
        <p:txBody>
          <a:bodyPr wrap="square" rtlCol="0" anchor="ctr"/>
          <a:lstStyle/>
          <a:p>
            <a:pPr indent="0" marL="0">
              <a:buNone/>
            </a:pPr>
            <a:endParaRPr lang="en-US" dirty="0"/>
          </a:p>
        </p:txBody>
      </p:sp>
      <p:sp>
        <p:nvSpPr>
          <p:cNvPr id="10" name="Text 7"/>
          <p:cNvSpPr/>
          <p:nvPr/>
        </p:nvSpPr>
        <p:spPr>
          <a:xfrm>
            <a:off x="4708327" y="2241203"/>
            <a:ext cx="3452342" cy="209550"/>
          </a:xfrm>
          <a:prstGeom prst="rect">
            <a:avLst/>
          </a:prstGeom>
          <a:noFill/>
          <a:ln/>
        </p:spPr>
        <p:txBody>
          <a:bodyPr wrap="square" lIns="0" tIns="0" rIns="0" bIns="0" rtlCol="0" anchor="t"/>
          <a:lstStyle/>
          <a:p>
            <a:pPr algn="l" indent="0" marL="0">
              <a:buNone/>
            </a:pPr>
            <a:r>
              <a:rPr lang="en-US" sz="1400" b="1" dirty="0">
                <a:solidFill>
                  <a:srgbClr val="C084FC"/>
                </a:solidFill>
                <a:latin typeface="Arial" pitchFamily="34" charset="0"/>
                <a:ea typeface="Arial" pitchFamily="34" charset="-122"/>
                <a:cs typeface="Arial" pitchFamily="34" charset="-120"/>
              </a:rPr>
              <a:t>For Owners</a:t>
            </a:r>
            <a:endParaRPr lang="en-US" sz="1400" dirty="0"/>
          </a:p>
        </p:txBody>
      </p:sp>
      <p:sp>
        <p:nvSpPr>
          <p:cNvPr id="11" name="Text 8"/>
          <p:cNvSpPr/>
          <p:nvPr/>
        </p:nvSpPr>
        <p:spPr>
          <a:xfrm>
            <a:off x="4708327" y="2552254"/>
            <a:ext cx="3384649" cy="809476"/>
          </a:xfrm>
          <a:prstGeom prst="rect">
            <a:avLst/>
          </a:prstGeom>
          <a:noFill/>
          <a:ln/>
        </p:spPr>
        <p:txBody>
          <a:bodyPr wrap="square" lIns="88900" tIns="0" rIns="0" bIns="0" rtlCol="0" anchor="t"/>
          <a:lstStyle/>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List a lot or driveway in minutes</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Set pricing, manage availability</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Track bookings &amp; revenue live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HOW IT WORKS</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From hunting to parked — in four steps.</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Text 2"/>
          <p:cNvSpPr/>
          <p:nvPr/>
        </p:nvSpPr>
        <p:spPr>
          <a:xfrm>
            <a:off x="507950" y="1530102"/>
            <a:ext cx="1879550" cy="1451521"/>
          </a:xfrm>
          <a:prstGeom prst="roundRect">
            <a:avLst>
              <a:gd name="adj" fmla="val 7874"/>
            </a:avLst>
          </a:prstGeom>
          <a:solidFill>
            <a:srgbClr val="15131F"/>
          </a:solidFill>
          <a:ln/>
        </p:spPr>
        <p:txBody>
          <a:bodyPr wrap="square" rtlCol="0" anchor="ctr"/>
          <a:lstStyle/>
          <a:p>
            <a:pPr indent="0" marL="0">
              <a:buNone/>
            </a:pPr>
            <a:endParaRPr lang="en-US" dirty="0"/>
          </a:p>
        </p:txBody>
      </p:sp>
      <p:sp>
        <p:nvSpPr>
          <p:cNvPr id="6" name="Shape 3"/>
          <p:cNvSpPr/>
          <p:nvPr/>
        </p:nvSpPr>
        <p:spPr>
          <a:xfrm>
            <a:off x="531763" y="1530102"/>
            <a:ext cx="0" cy="1451521"/>
          </a:xfrm>
          <a:prstGeom prst="line">
            <a:avLst/>
          </a:prstGeom>
          <a:noFill/>
          <a:ln w="47625">
            <a:solidFill>
              <a:srgbClr val="A855F7"/>
            </a:solidFill>
            <a:prstDash val="solid"/>
          </a:ln>
        </p:spPr>
      </p:sp>
      <p:sp>
        <p:nvSpPr>
          <p:cNvPr id="7" name="Text 4"/>
          <p:cNvSpPr/>
          <p:nvPr/>
        </p:nvSpPr>
        <p:spPr>
          <a:xfrm>
            <a:off x="746075" y="1720602"/>
            <a:ext cx="1479944"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1</a:t>
            </a:r>
            <a:endParaRPr lang="en-US" sz="3000" dirty="0"/>
          </a:p>
        </p:txBody>
      </p:sp>
      <p:sp>
        <p:nvSpPr>
          <p:cNvPr id="8" name="Text 5"/>
          <p:cNvSpPr/>
          <p:nvPr/>
        </p:nvSpPr>
        <p:spPr>
          <a:xfrm>
            <a:off x="746075" y="2225427"/>
            <a:ext cx="1479944" cy="565696"/>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Find — open the live map &amp; filter by price, type, EV &amp; amenities</a:t>
            </a:r>
            <a:endParaRPr lang="en-US" sz="1100" dirty="0"/>
          </a:p>
        </p:txBody>
      </p:sp>
      <p:sp>
        <p:nvSpPr>
          <p:cNvPr id="9" name="Text 6"/>
          <p:cNvSpPr/>
          <p:nvPr/>
        </p:nvSpPr>
        <p:spPr>
          <a:xfrm>
            <a:off x="2527102" y="1530102"/>
            <a:ext cx="1879550" cy="1451521"/>
          </a:xfrm>
          <a:prstGeom prst="roundRect">
            <a:avLst>
              <a:gd name="adj" fmla="val 7874"/>
            </a:avLst>
          </a:prstGeom>
          <a:solidFill>
            <a:srgbClr val="15131F"/>
          </a:solidFill>
          <a:ln/>
        </p:spPr>
        <p:txBody>
          <a:bodyPr wrap="square" rtlCol="0" anchor="ctr"/>
          <a:lstStyle/>
          <a:p>
            <a:pPr indent="0" marL="0">
              <a:buNone/>
            </a:pPr>
            <a:endParaRPr lang="en-US" dirty="0"/>
          </a:p>
        </p:txBody>
      </p:sp>
      <p:sp>
        <p:nvSpPr>
          <p:cNvPr id="10" name="Shape 7"/>
          <p:cNvSpPr/>
          <p:nvPr/>
        </p:nvSpPr>
        <p:spPr>
          <a:xfrm>
            <a:off x="2550914" y="1530102"/>
            <a:ext cx="0" cy="1451521"/>
          </a:xfrm>
          <a:prstGeom prst="line">
            <a:avLst/>
          </a:prstGeom>
          <a:noFill/>
          <a:ln w="47625">
            <a:solidFill>
              <a:srgbClr val="A855F7"/>
            </a:solidFill>
            <a:prstDash val="solid"/>
          </a:ln>
        </p:spPr>
      </p:sp>
      <p:sp>
        <p:nvSpPr>
          <p:cNvPr id="11" name="Text 8"/>
          <p:cNvSpPr/>
          <p:nvPr/>
        </p:nvSpPr>
        <p:spPr>
          <a:xfrm>
            <a:off x="2765227" y="1720602"/>
            <a:ext cx="1479944"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2</a:t>
            </a:r>
            <a:endParaRPr lang="en-US" sz="3000" dirty="0"/>
          </a:p>
        </p:txBody>
      </p:sp>
      <p:sp>
        <p:nvSpPr>
          <p:cNvPr id="12" name="Text 9"/>
          <p:cNvSpPr/>
          <p:nvPr/>
        </p:nvSpPr>
        <p:spPr>
          <a:xfrm>
            <a:off x="2765227" y="2225427"/>
            <a:ext cx="1479944" cy="565696"/>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Reserve — pick your time &amp; vehicle; the spot is held for you</a:t>
            </a:r>
            <a:endParaRPr lang="en-US" sz="1100" dirty="0"/>
          </a:p>
        </p:txBody>
      </p:sp>
      <p:sp>
        <p:nvSpPr>
          <p:cNvPr id="13" name="Text 10"/>
          <p:cNvSpPr/>
          <p:nvPr/>
        </p:nvSpPr>
        <p:spPr>
          <a:xfrm>
            <a:off x="4546253" y="1530102"/>
            <a:ext cx="1879550" cy="1451521"/>
          </a:xfrm>
          <a:prstGeom prst="roundRect">
            <a:avLst>
              <a:gd name="adj" fmla="val 7874"/>
            </a:avLst>
          </a:prstGeom>
          <a:solidFill>
            <a:srgbClr val="15131F"/>
          </a:solidFill>
          <a:ln/>
        </p:spPr>
        <p:txBody>
          <a:bodyPr wrap="square" rtlCol="0" anchor="ctr"/>
          <a:lstStyle/>
          <a:p>
            <a:pPr indent="0" marL="0">
              <a:buNone/>
            </a:pPr>
            <a:endParaRPr lang="en-US" dirty="0"/>
          </a:p>
        </p:txBody>
      </p:sp>
      <p:sp>
        <p:nvSpPr>
          <p:cNvPr id="14" name="Shape 11"/>
          <p:cNvSpPr/>
          <p:nvPr/>
        </p:nvSpPr>
        <p:spPr>
          <a:xfrm>
            <a:off x="4570065" y="1530102"/>
            <a:ext cx="0" cy="1451521"/>
          </a:xfrm>
          <a:prstGeom prst="line">
            <a:avLst/>
          </a:prstGeom>
          <a:noFill/>
          <a:ln w="47625">
            <a:solidFill>
              <a:srgbClr val="A855F7"/>
            </a:solidFill>
            <a:prstDash val="solid"/>
          </a:ln>
        </p:spPr>
      </p:sp>
      <p:sp>
        <p:nvSpPr>
          <p:cNvPr id="15" name="Text 12"/>
          <p:cNvSpPr/>
          <p:nvPr/>
        </p:nvSpPr>
        <p:spPr>
          <a:xfrm>
            <a:off x="4784378" y="1720602"/>
            <a:ext cx="1479944"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3</a:t>
            </a:r>
            <a:endParaRPr lang="en-US" sz="3000" dirty="0"/>
          </a:p>
        </p:txBody>
      </p:sp>
      <p:sp>
        <p:nvSpPr>
          <p:cNvPr id="16" name="Text 13"/>
          <p:cNvSpPr/>
          <p:nvPr/>
        </p:nvSpPr>
        <p:spPr>
          <a:xfrm>
            <a:off x="4784378" y="2225427"/>
            <a:ext cx="1479944" cy="565696"/>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Pay — securely via Razorpay (UPI, cards, wallets)</a:t>
            </a:r>
            <a:endParaRPr lang="en-US" sz="1100" dirty="0"/>
          </a:p>
        </p:txBody>
      </p:sp>
      <p:sp>
        <p:nvSpPr>
          <p:cNvPr id="17" name="Text 14"/>
          <p:cNvSpPr/>
          <p:nvPr/>
        </p:nvSpPr>
        <p:spPr>
          <a:xfrm>
            <a:off x="6565404" y="1530102"/>
            <a:ext cx="1879550" cy="1451521"/>
          </a:xfrm>
          <a:prstGeom prst="roundRect">
            <a:avLst>
              <a:gd name="adj" fmla="val 7874"/>
            </a:avLst>
          </a:prstGeom>
          <a:solidFill>
            <a:srgbClr val="15131F"/>
          </a:solidFill>
          <a:ln/>
        </p:spPr>
        <p:txBody>
          <a:bodyPr wrap="square" rtlCol="0" anchor="ctr"/>
          <a:lstStyle/>
          <a:p>
            <a:pPr indent="0" marL="0">
              <a:buNone/>
            </a:pPr>
            <a:endParaRPr lang="en-US" dirty="0"/>
          </a:p>
        </p:txBody>
      </p:sp>
      <p:sp>
        <p:nvSpPr>
          <p:cNvPr id="18" name="Shape 15"/>
          <p:cNvSpPr/>
          <p:nvPr/>
        </p:nvSpPr>
        <p:spPr>
          <a:xfrm>
            <a:off x="6589216" y="1530102"/>
            <a:ext cx="0" cy="1451521"/>
          </a:xfrm>
          <a:prstGeom prst="line">
            <a:avLst/>
          </a:prstGeom>
          <a:noFill/>
          <a:ln w="47625">
            <a:solidFill>
              <a:srgbClr val="A855F7"/>
            </a:solidFill>
            <a:prstDash val="solid"/>
          </a:ln>
        </p:spPr>
      </p:sp>
      <p:sp>
        <p:nvSpPr>
          <p:cNvPr id="19" name="Text 16"/>
          <p:cNvSpPr/>
          <p:nvPr/>
        </p:nvSpPr>
        <p:spPr>
          <a:xfrm>
            <a:off x="6803529" y="1720602"/>
            <a:ext cx="1479944"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4</a:t>
            </a:r>
            <a:endParaRPr lang="en-US" sz="3000" dirty="0"/>
          </a:p>
        </p:txBody>
      </p:sp>
      <p:sp>
        <p:nvSpPr>
          <p:cNvPr id="20" name="Text 17"/>
          <p:cNvSpPr/>
          <p:nvPr/>
        </p:nvSpPr>
        <p:spPr>
          <a:xfrm>
            <a:off x="6803529" y="2225427"/>
            <a:ext cx="1479944" cy="377130"/>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Park — arrive, scan your QR pass, done</a:t>
            </a:r>
            <a:endParaRPr lang="en-US" sz="1100" dirty="0"/>
          </a:p>
        </p:txBody>
      </p:sp>
      <p:sp>
        <p:nvSpPr>
          <p:cNvPr id="21" name="Text 18"/>
          <p:cNvSpPr/>
          <p:nvPr/>
        </p:nvSpPr>
        <p:spPr>
          <a:xfrm>
            <a:off x="507950" y="3260973"/>
            <a:ext cx="7772400" cy="230237"/>
          </a:xfrm>
          <a:prstGeom prst="rect">
            <a:avLst/>
          </a:prstGeom>
          <a:noFill/>
          <a:ln/>
        </p:spPr>
        <p:txBody>
          <a:bodyPr wrap="square" lIns="0" tIns="0" rIns="0" bIns="0" rtlCol="0" anchor="t"/>
          <a:lstStyle/>
          <a:p>
            <a:pPr algn="l" indent="0" marL="0">
              <a:lnSpc>
                <a:spcPts val="1813"/>
              </a:lnSpc>
              <a:spcBef>
                <a:spcPts val="2200"/>
              </a:spcBef>
              <a:buNone/>
            </a:pPr>
            <a:r>
              <a:rPr lang="en-US" sz="1250" dirty="0">
                <a:solidFill>
                  <a:srgbClr val="9AA0B5"/>
                </a:solidFill>
                <a:latin typeface="Arial" pitchFamily="34" charset="0"/>
                <a:ea typeface="Arial" pitchFamily="34" charset="-122"/>
                <a:cs typeface="Arial" pitchFamily="34" charset="-120"/>
              </a:rPr>
              <a:t>Live availability updates instantly over WebSockets, so what you see is what’s actually free.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THE PRODUCT</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Built like a real platform, not a demo.</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Text 2"/>
          <p:cNvSpPr/>
          <p:nvPr/>
        </p:nvSpPr>
        <p:spPr>
          <a:xfrm>
            <a:off x="507950" y="1428452"/>
            <a:ext cx="2489150" cy="967978"/>
          </a:xfrm>
          <a:prstGeom prst="roundRect">
            <a:avLst>
              <a:gd name="adj" fmla="val 13120"/>
            </a:avLst>
          </a:prstGeom>
          <a:solidFill>
            <a:srgbClr val="141320"/>
          </a:solidFill>
          <a:ln w="9525">
            <a:solidFill>
              <a:srgbClr val="262438"/>
            </a:solidFill>
          </a:ln>
        </p:spPr>
        <p:txBody>
          <a:bodyPr wrap="square" rtlCol="0" anchor="ctr"/>
          <a:lstStyle/>
          <a:p>
            <a:pPr indent="0" marL="0">
              <a:buNone/>
            </a:pPr>
            <a:endParaRPr lang="en-US" dirty="0"/>
          </a:p>
        </p:txBody>
      </p:sp>
      <p:sp>
        <p:nvSpPr>
          <p:cNvPr id="6" name="Text 3"/>
          <p:cNvSpPr/>
          <p:nvPr/>
        </p:nvSpPr>
        <p:spPr>
          <a:xfrm>
            <a:off x="682526" y="1603028"/>
            <a:ext cx="2182800"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Real-time map</a:t>
            </a:r>
            <a:endParaRPr lang="en-US" sz="1300" dirty="0"/>
          </a:p>
        </p:txBody>
      </p:sp>
      <p:sp>
        <p:nvSpPr>
          <p:cNvPr id="7" name="Text 4"/>
          <p:cNvSpPr/>
          <p:nvPr/>
        </p:nvSpPr>
        <p:spPr>
          <a:xfrm>
            <a:off x="682526" y="1866454"/>
            <a:ext cx="2182800" cy="355402"/>
          </a:xfrm>
          <a:prstGeom prst="rect">
            <a:avLst/>
          </a:prstGeom>
          <a:noFill/>
          <a:ln/>
        </p:spPr>
        <p:txBody>
          <a:bodyPr wrap="square" lIns="0" tIns="0" rIns="0" bIns="0" rtlCol="0" anchor="t"/>
          <a:lstStyle/>
          <a:p>
            <a:pPr algn="l" indent="0" marL="0">
              <a:lnSpc>
                <a:spcPts val="1400"/>
              </a:lnSpc>
              <a:spcBef>
                <a:spcPts val="500"/>
              </a:spcBef>
              <a:buNone/>
            </a:pPr>
            <a:r>
              <a:rPr lang="en-US" sz="1000" dirty="0">
                <a:solidFill>
                  <a:srgbClr val="9AA0B5"/>
                </a:solidFill>
                <a:latin typeface="Arial" pitchFamily="34" charset="0"/>
                <a:ea typeface="Arial" pitchFamily="34" charset="-122"/>
                <a:cs typeface="Arial" pitchFamily="34" charset="-120"/>
              </a:rPr>
              <a:t>Live availability with color-coded pins over WebSockets.</a:t>
            </a:r>
            <a:endParaRPr lang="en-US" sz="1000" dirty="0"/>
          </a:p>
        </p:txBody>
      </p:sp>
      <p:sp>
        <p:nvSpPr>
          <p:cNvPr id="8" name="Text 5"/>
          <p:cNvSpPr/>
          <p:nvPr/>
        </p:nvSpPr>
        <p:spPr>
          <a:xfrm>
            <a:off x="3111401" y="1428452"/>
            <a:ext cx="2489150" cy="967978"/>
          </a:xfrm>
          <a:prstGeom prst="roundRect">
            <a:avLst>
              <a:gd name="adj" fmla="val 13120"/>
            </a:avLst>
          </a:prstGeom>
          <a:solidFill>
            <a:srgbClr val="141320"/>
          </a:solidFill>
          <a:ln w="9525">
            <a:solidFill>
              <a:srgbClr val="262438"/>
            </a:solidFill>
          </a:ln>
        </p:spPr>
        <p:txBody>
          <a:bodyPr wrap="square" rtlCol="0" anchor="ctr"/>
          <a:lstStyle/>
          <a:p>
            <a:pPr indent="0" marL="0">
              <a:buNone/>
            </a:pPr>
            <a:endParaRPr lang="en-US" dirty="0"/>
          </a:p>
        </p:txBody>
      </p:sp>
      <p:sp>
        <p:nvSpPr>
          <p:cNvPr id="9" name="Text 6"/>
          <p:cNvSpPr/>
          <p:nvPr/>
        </p:nvSpPr>
        <p:spPr>
          <a:xfrm>
            <a:off x="3285976" y="1603028"/>
            <a:ext cx="2182800"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Guaranteed booking</a:t>
            </a:r>
            <a:endParaRPr lang="en-US" sz="1300" dirty="0"/>
          </a:p>
        </p:txBody>
      </p:sp>
      <p:sp>
        <p:nvSpPr>
          <p:cNvPr id="10" name="Text 7"/>
          <p:cNvSpPr/>
          <p:nvPr/>
        </p:nvSpPr>
        <p:spPr>
          <a:xfrm>
            <a:off x="3285976" y="1866454"/>
            <a:ext cx="2182800" cy="355402"/>
          </a:xfrm>
          <a:prstGeom prst="rect">
            <a:avLst/>
          </a:prstGeom>
          <a:noFill/>
          <a:ln/>
        </p:spPr>
        <p:txBody>
          <a:bodyPr wrap="square" lIns="0" tIns="0" rIns="0" bIns="0" rtlCol="0" anchor="t"/>
          <a:lstStyle/>
          <a:p>
            <a:pPr algn="l" indent="0" marL="0">
              <a:lnSpc>
                <a:spcPts val="1400"/>
              </a:lnSpc>
              <a:spcBef>
                <a:spcPts val="500"/>
              </a:spcBef>
              <a:buNone/>
            </a:pPr>
            <a:r>
              <a:rPr lang="en-US" sz="1000" dirty="0">
                <a:solidFill>
                  <a:srgbClr val="9AA0B5"/>
                </a:solidFill>
                <a:latin typeface="Arial" pitchFamily="34" charset="0"/>
                <a:ea typeface="Arial" pitchFamily="34" charset="-122"/>
                <a:cs typeface="Arial" pitchFamily="34" charset="-120"/>
              </a:rPr>
              <a:t>Reserve ahead with a scannable QR pass &amp; PDF receipt.</a:t>
            </a:r>
            <a:endParaRPr lang="en-US" sz="1000" dirty="0"/>
          </a:p>
        </p:txBody>
      </p:sp>
      <p:sp>
        <p:nvSpPr>
          <p:cNvPr id="11" name="Text 8"/>
          <p:cNvSpPr/>
          <p:nvPr/>
        </p:nvSpPr>
        <p:spPr>
          <a:xfrm>
            <a:off x="5714851" y="1428452"/>
            <a:ext cx="2489150" cy="967978"/>
          </a:xfrm>
          <a:prstGeom prst="roundRect">
            <a:avLst>
              <a:gd name="adj" fmla="val 13120"/>
            </a:avLst>
          </a:prstGeom>
          <a:solidFill>
            <a:srgbClr val="141320"/>
          </a:solidFill>
          <a:ln w="9525">
            <a:solidFill>
              <a:srgbClr val="262438"/>
            </a:solidFill>
          </a:ln>
        </p:spPr>
        <p:txBody>
          <a:bodyPr wrap="square" rtlCol="0" anchor="ctr"/>
          <a:lstStyle/>
          <a:p>
            <a:pPr indent="0" marL="0">
              <a:buNone/>
            </a:pPr>
            <a:endParaRPr lang="en-US" dirty="0"/>
          </a:p>
        </p:txBody>
      </p:sp>
      <p:sp>
        <p:nvSpPr>
          <p:cNvPr id="12" name="Text 9"/>
          <p:cNvSpPr/>
          <p:nvPr/>
        </p:nvSpPr>
        <p:spPr>
          <a:xfrm>
            <a:off x="5889427" y="1603028"/>
            <a:ext cx="2182800"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Secure payments</a:t>
            </a:r>
            <a:endParaRPr lang="en-US" sz="1300" dirty="0"/>
          </a:p>
        </p:txBody>
      </p:sp>
      <p:sp>
        <p:nvSpPr>
          <p:cNvPr id="13" name="Text 10"/>
          <p:cNvSpPr/>
          <p:nvPr/>
        </p:nvSpPr>
        <p:spPr>
          <a:xfrm>
            <a:off x="5889427" y="1866454"/>
            <a:ext cx="2182800" cy="355402"/>
          </a:xfrm>
          <a:prstGeom prst="rect">
            <a:avLst/>
          </a:prstGeom>
          <a:noFill/>
          <a:ln/>
        </p:spPr>
        <p:txBody>
          <a:bodyPr wrap="square" lIns="0" tIns="0" rIns="0" bIns="0" rtlCol="0" anchor="t"/>
          <a:lstStyle/>
          <a:p>
            <a:pPr algn="l" indent="0" marL="0">
              <a:lnSpc>
                <a:spcPts val="1400"/>
              </a:lnSpc>
              <a:spcBef>
                <a:spcPts val="500"/>
              </a:spcBef>
              <a:buNone/>
            </a:pPr>
            <a:r>
              <a:rPr lang="en-US" sz="1000" dirty="0">
                <a:solidFill>
                  <a:srgbClr val="9AA0B5"/>
                </a:solidFill>
                <a:latin typeface="Arial" pitchFamily="34" charset="0"/>
                <a:ea typeface="Arial" pitchFamily="34" charset="-122"/>
                <a:cs typeface="Arial" pitchFamily="34" charset="-120"/>
              </a:rPr>
              <a:t>Razorpay — UPI, cards, wallets, refunds &amp; webhooks.</a:t>
            </a:r>
            <a:endParaRPr lang="en-US" sz="1000" dirty="0"/>
          </a:p>
        </p:txBody>
      </p:sp>
      <p:sp>
        <p:nvSpPr>
          <p:cNvPr id="14" name="Text 11"/>
          <p:cNvSpPr/>
          <p:nvPr/>
        </p:nvSpPr>
        <p:spPr>
          <a:xfrm>
            <a:off x="507950" y="2510730"/>
            <a:ext cx="2489150" cy="967978"/>
          </a:xfrm>
          <a:prstGeom prst="roundRect">
            <a:avLst>
              <a:gd name="adj" fmla="val 13120"/>
            </a:avLst>
          </a:prstGeom>
          <a:solidFill>
            <a:srgbClr val="141320"/>
          </a:solidFill>
          <a:ln w="9525">
            <a:solidFill>
              <a:srgbClr val="262438"/>
            </a:solidFill>
          </a:ln>
        </p:spPr>
        <p:txBody>
          <a:bodyPr wrap="square" rtlCol="0" anchor="ctr"/>
          <a:lstStyle/>
          <a:p>
            <a:pPr indent="0" marL="0">
              <a:buNone/>
            </a:pPr>
            <a:endParaRPr lang="en-US" dirty="0"/>
          </a:p>
        </p:txBody>
      </p:sp>
      <p:sp>
        <p:nvSpPr>
          <p:cNvPr id="15" name="Text 12"/>
          <p:cNvSpPr/>
          <p:nvPr/>
        </p:nvSpPr>
        <p:spPr>
          <a:xfrm>
            <a:off x="682526" y="2685306"/>
            <a:ext cx="2182800"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Park.Guard monitor</a:t>
            </a:r>
            <a:endParaRPr lang="en-US" sz="1300" dirty="0"/>
          </a:p>
        </p:txBody>
      </p:sp>
      <p:sp>
        <p:nvSpPr>
          <p:cNvPr id="16" name="Text 13"/>
          <p:cNvSpPr/>
          <p:nvPr/>
        </p:nvSpPr>
        <p:spPr>
          <a:xfrm>
            <a:off x="682526" y="2948732"/>
            <a:ext cx="2182800" cy="355402"/>
          </a:xfrm>
          <a:prstGeom prst="rect">
            <a:avLst/>
          </a:prstGeom>
          <a:noFill/>
          <a:ln/>
        </p:spPr>
        <p:txBody>
          <a:bodyPr wrap="square" lIns="0" tIns="0" rIns="0" bIns="0" rtlCol="0" anchor="t"/>
          <a:lstStyle/>
          <a:p>
            <a:pPr algn="l" indent="0" marL="0">
              <a:lnSpc>
                <a:spcPts val="1400"/>
              </a:lnSpc>
              <a:spcBef>
                <a:spcPts val="500"/>
              </a:spcBef>
              <a:buNone/>
            </a:pPr>
            <a:r>
              <a:rPr lang="en-US" sz="1000" dirty="0">
                <a:solidFill>
                  <a:srgbClr val="9AA0B5"/>
                </a:solidFill>
                <a:latin typeface="Arial" pitchFamily="34" charset="0"/>
                <a:ea typeface="Arial" pitchFamily="34" charset="-122"/>
                <a:cs typeface="Arial" pitchFamily="34" charset="-120"/>
              </a:rPr>
              <a:t>Live CCTV &amp; impact alerts for your active booking.</a:t>
            </a:r>
            <a:endParaRPr lang="en-US" sz="1000" dirty="0"/>
          </a:p>
        </p:txBody>
      </p:sp>
      <p:sp>
        <p:nvSpPr>
          <p:cNvPr id="17" name="Text 14"/>
          <p:cNvSpPr/>
          <p:nvPr/>
        </p:nvSpPr>
        <p:spPr>
          <a:xfrm>
            <a:off x="3111401" y="2510730"/>
            <a:ext cx="2489150" cy="967978"/>
          </a:xfrm>
          <a:prstGeom prst="roundRect">
            <a:avLst>
              <a:gd name="adj" fmla="val 13120"/>
            </a:avLst>
          </a:prstGeom>
          <a:solidFill>
            <a:srgbClr val="141320"/>
          </a:solidFill>
          <a:ln w="9525">
            <a:solidFill>
              <a:srgbClr val="262438"/>
            </a:solidFill>
          </a:ln>
        </p:spPr>
        <p:txBody>
          <a:bodyPr wrap="square" rtlCol="0" anchor="ctr"/>
          <a:lstStyle/>
          <a:p>
            <a:pPr indent="0" marL="0">
              <a:buNone/>
            </a:pPr>
            <a:endParaRPr lang="en-US" dirty="0"/>
          </a:p>
        </p:txBody>
      </p:sp>
      <p:sp>
        <p:nvSpPr>
          <p:cNvPr id="18" name="Text 15"/>
          <p:cNvSpPr/>
          <p:nvPr/>
        </p:nvSpPr>
        <p:spPr>
          <a:xfrm>
            <a:off x="3285976" y="2685306"/>
            <a:ext cx="2182800"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Verified reviews</a:t>
            </a:r>
            <a:endParaRPr lang="en-US" sz="1300" dirty="0"/>
          </a:p>
        </p:txBody>
      </p:sp>
      <p:sp>
        <p:nvSpPr>
          <p:cNvPr id="19" name="Text 16"/>
          <p:cNvSpPr/>
          <p:nvPr/>
        </p:nvSpPr>
        <p:spPr>
          <a:xfrm>
            <a:off x="3285976" y="2948732"/>
            <a:ext cx="2182800" cy="355402"/>
          </a:xfrm>
          <a:prstGeom prst="rect">
            <a:avLst/>
          </a:prstGeom>
          <a:noFill/>
          <a:ln/>
        </p:spPr>
        <p:txBody>
          <a:bodyPr wrap="square" lIns="0" tIns="0" rIns="0" bIns="0" rtlCol="0" anchor="t"/>
          <a:lstStyle/>
          <a:p>
            <a:pPr algn="l" indent="0" marL="0">
              <a:lnSpc>
                <a:spcPts val="1400"/>
              </a:lnSpc>
              <a:spcBef>
                <a:spcPts val="500"/>
              </a:spcBef>
              <a:buNone/>
            </a:pPr>
            <a:r>
              <a:rPr lang="en-US" sz="1000" dirty="0">
                <a:solidFill>
                  <a:srgbClr val="9AA0B5"/>
                </a:solidFill>
                <a:latin typeface="Arial" pitchFamily="34" charset="0"/>
                <a:ea typeface="Arial" pitchFamily="34" charset="-122"/>
                <a:cs typeface="Arial" pitchFamily="34" charset="-120"/>
              </a:rPr>
              <a:t>Only real customers who booked can rate a spot.</a:t>
            </a:r>
            <a:endParaRPr lang="en-US" sz="1000" dirty="0"/>
          </a:p>
        </p:txBody>
      </p:sp>
      <p:sp>
        <p:nvSpPr>
          <p:cNvPr id="20" name="Text 17"/>
          <p:cNvSpPr/>
          <p:nvPr/>
        </p:nvSpPr>
        <p:spPr>
          <a:xfrm>
            <a:off x="5714851" y="2510730"/>
            <a:ext cx="2489150" cy="967978"/>
          </a:xfrm>
          <a:prstGeom prst="roundRect">
            <a:avLst>
              <a:gd name="adj" fmla="val 13120"/>
            </a:avLst>
          </a:prstGeom>
          <a:solidFill>
            <a:srgbClr val="141320"/>
          </a:solidFill>
          <a:ln w="9525">
            <a:solidFill>
              <a:srgbClr val="262438"/>
            </a:solidFill>
          </a:ln>
        </p:spPr>
        <p:txBody>
          <a:bodyPr wrap="square" rtlCol="0" anchor="ctr"/>
          <a:lstStyle/>
          <a:p>
            <a:pPr indent="0" marL="0">
              <a:buNone/>
            </a:pPr>
            <a:endParaRPr lang="en-US" dirty="0"/>
          </a:p>
        </p:txBody>
      </p:sp>
      <p:sp>
        <p:nvSpPr>
          <p:cNvPr id="21" name="Text 18"/>
          <p:cNvSpPr/>
          <p:nvPr/>
        </p:nvSpPr>
        <p:spPr>
          <a:xfrm>
            <a:off x="5889427" y="2685306"/>
            <a:ext cx="2182800" cy="200025"/>
          </a:xfrm>
          <a:prstGeom prst="rect">
            <a:avLst/>
          </a:prstGeom>
          <a:noFill/>
          <a:ln/>
        </p:spPr>
        <p:txBody>
          <a:bodyPr wrap="square" lIns="0" tIns="0" rIns="0" bIns="0" rtlCol="0" anchor="t"/>
          <a:lstStyle/>
          <a:p>
            <a:pPr algn="l" indent="0" marL="0">
              <a:buNone/>
            </a:pPr>
            <a:r>
              <a:rPr lang="en-US" sz="1300" b="1" dirty="0">
                <a:solidFill>
                  <a:srgbClr val="FFFFFF"/>
                </a:solidFill>
                <a:latin typeface="Arial" pitchFamily="34" charset="0"/>
                <a:ea typeface="Arial" pitchFamily="34" charset="-122"/>
                <a:cs typeface="Arial" pitchFamily="34" charset="-120"/>
              </a:rPr>
              <a:t>AI assistant</a:t>
            </a:r>
            <a:endParaRPr lang="en-US" sz="1300" dirty="0"/>
          </a:p>
        </p:txBody>
      </p:sp>
      <p:sp>
        <p:nvSpPr>
          <p:cNvPr id="22" name="Text 19"/>
          <p:cNvSpPr/>
          <p:nvPr/>
        </p:nvSpPr>
        <p:spPr>
          <a:xfrm>
            <a:off x="5889427" y="2948732"/>
            <a:ext cx="2182800" cy="355402"/>
          </a:xfrm>
          <a:prstGeom prst="rect">
            <a:avLst/>
          </a:prstGeom>
          <a:noFill/>
          <a:ln/>
        </p:spPr>
        <p:txBody>
          <a:bodyPr wrap="square" lIns="0" tIns="0" rIns="0" bIns="0" rtlCol="0" anchor="t"/>
          <a:lstStyle/>
          <a:p>
            <a:pPr algn="l" indent="0" marL="0">
              <a:lnSpc>
                <a:spcPts val="1400"/>
              </a:lnSpc>
              <a:spcBef>
                <a:spcPts val="500"/>
              </a:spcBef>
              <a:buNone/>
            </a:pPr>
            <a:r>
              <a:rPr lang="en-US" sz="1000" dirty="0">
                <a:solidFill>
                  <a:srgbClr val="9AA0B5"/>
                </a:solidFill>
                <a:latin typeface="Arial" pitchFamily="34" charset="0"/>
                <a:ea typeface="Arial" pitchFamily="34" charset="-122"/>
                <a:cs typeface="Arial" pitchFamily="34" charset="-120"/>
              </a:rPr>
              <a:t>A built-in chatbot answers parking &amp; booking queries.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THE IMPACT</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Time saved, fines avoided, cities unclogged.</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Text 2"/>
          <p:cNvSpPr/>
          <p:nvPr/>
        </p:nvSpPr>
        <p:spPr>
          <a:xfrm>
            <a:off x="507950" y="1453753"/>
            <a:ext cx="3238449" cy="920948"/>
          </a:xfrm>
          <a:prstGeom prst="rect">
            <a:avLst/>
          </a:prstGeom>
          <a:noFill/>
          <a:ln/>
        </p:spPr>
        <p:txBody>
          <a:bodyPr wrap="square" lIns="0" tIns="0" rIns="0" bIns="0" rtlCol="0" anchor="t"/>
          <a:lstStyle/>
          <a:p>
            <a:pPr algn="l" indent="0" marL="0">
              <a:lnSpc>
                <a:spcPts val="1813"/>
              </a:lnSpc>
              <a:spcBef>
                <a:spcPts val="400"/>
              </a:spcBef>
              <a:buNone/>
            </a:pPr>
            <a:r>
              <a:rPr lang="en-US" sz="1250" dirty="0">
                <a:solidFill>
                  <a:srgbClr val="9AA0B5"/>
                </a:solidFill>
                <a:latin typeface="Arial" pitchFamily="34" charset="0"/>
                <a:ea typeface="Arial" pitchFamily="34" charset="-122"/>
                <a:cs typeface="Arial" pitchFamily="34" charset="-120"/>
              </a:rPr>
              <a:t>By guiding drivers straight to a legal, reserved bay, ParkEase removes the circling that wastes time and triggers illegal-parking fines.</a:t>
            </a:r>
            <a:endParaRPr lang="en-US" sz="1250" dirty="0"/>
          </a:p>
        </p:txBody>
      </p:sp>
      <p:sp>
        <p:nvSpPr>
          <p:cNvPr id="6" name="Text 3"/>
          <p:cNvSpPr/>
          <p:nvPr/>
        </p:nvSpPr>
        <p:spPr>
          <a:xfrm>
            <a:off x="507950" y="2527102"/>
            <a:ext cx="2920901" cy="1074390"/>
          </a:xfrm>
          <a:prstGeom prst="roundRect">
            <a:avLst>
              <a:gd name="adj" fmla="val 10639"/>
            </a:avLst>
          </a:prstGeom>
          <a:solidFill>
            <a:srgbClr val="15131F"/>
          </a:solidFill>
          <a:ln/>
        </p:spPr>
        <p:txBody>
          <a:bodyPr wrap="square" rtlCol="0" anchor="ctr"/>
          <a:lstStyle/>
          <a:p>
            <a:pPr indent="0" marL="0">
              <a:buNone/>
            </a:pPr>
            <a:endParaRPr lang="en-US" dirty="0"/>
          </a:p>
        </p:txBody>
      </p:sp>
      <p:sp>
        <p:nvSpPr>
          <p:cNvPr id="7" name="Shape 4"/>
          <p:cNvSpPr/>
          <p:nvPr/>
        </p:nvSpPr>
        <p:spPr>
          <a:xfrm>
            <a:off x="531763" y="2527102"/>
            <a:ext cx="0" cy="1074390"/>
          </a:xfrm>
          <a:prstGeom prst="line">
            <a:avLst/>
          </a:prstGeom>
          <a:noFill/>
          <a:ln w="47625">
            <a:solidFill>
              <a:srgbClr val="A855F7"/>
            </a:solidFill>
            <a:prstDash val="solid"/>
          </a:ln>
        </p:spPr>
      </p:sp>
      <p:sp>
        <p:nvSpPr>
          <p:cNvPr id="8" name="Text 5"/>
          <p:cNvSpPr/>
          <p:nvPr/>
        </p:nvSpPr>
        <p:spPr>
          <a:xfrm>
            <a:off x="746075" y="2717602"/>
            <a:ext cx="2542121" cy="428625"/>
          </a:xfrm>
          <a:prstGeom prst="rect">
            <a:avLst/>
          </a:prstGeom>
          <a:noFill/>
          <a:ln/>
        </p:spPr>
        <p:txBody>
          <a:bodyPr wrap="square" lIns="0" tIns="0" rIns="0" bIns="0" rtlCol="0" anchor="t"/>
          <a:lstStyle/>
          <a:p>
            <a:pPr algn="l" indent="0" marL="0">
              <a:buNone/>
            </a:pPr>
            <a:r>
              <a:rPr lang="en-US" sz="3000" b="1" dirty="0">
                <a:solidFill>
                  <a:srgbClr val="E879F9"/>
                </a:solidFill>
                <a:latin typeface="Arial" pitchFamily="34" charset="0"/>
                <a:ea typeface="Arial" pitchFamily="34" charset="-122"/>
                <a:cs typeface="Arial" pitchFamily="34" charset="-120"/>
              </a:rPr>
              <a:t>~17 min</a:t>
            </a:r>
            <a:endParaRPr lang="en-US" sz="3000" dirty="0"/>
          </a:p>
        </p:txBody>
      </p:sp>
      <p:sp>
        <p:nvSpPr>
          <p:cNvPr id="9" name="Text 6"/>
          <p:cNvSpPr/>
          <p:nvPr/>
        </p:nvSpPr>
        <p:spPr>
          <a:xfrm>
            <a:off x="746075" y="3222427"/>
            <a:ext cx="2542121" cy="188565"/>
          </a:xfrm>
          <a:prstGeom prst="rect">
            <a:avLst/>
          </a:prstGeom>
          <a:noFill/>
          <a:ln/>
        </p:spPr>
        <p:txBody>
          <a:bodyPr wrap="square" lIns="0" tIns="0" rIns="0" bIns="0" rtlCol="0" anchor="t"/>
          <a:lstStyle/>
          <a:p>
            <a:pPr algn="l" indent="0" marL="0">
              <a:lnSpc>
                <a:spcPts val="1485"/>
              </a:lnSpc>
              <a:spcBef>
                <a:spcPts val="600"/>
              </a:spcBef>
              <a:buNone/>
            </a:pPr>
            <a:r>
              <a:rPr lang="en-US" sz="1100" dirty="0">
                <a:solidFill>
                  <a:srgbClr val="AAB0C2"/>
                </a:solidFill>
                <a:latin typeface="Arial" pitchFamily="34" charset="0"/>
                <a:ea typeface="Arial" pitchFamily="34" charset="-122"/>
                <a:cs typeface="Arial" pitchFamily="34" charset="-120"/>
              </a:rPr>
              <a:t>saved per trip, per driver</a:t>
            </a:r>
            <a:endParaRPr lang="en-US" sz="1100" dirty="0"/>
          </a:p>
        </p:txBody>
      </p:sp>
      <p:sp>
        <p:nvSpPr>
          <p:cNvPr id="10" name="Text 7"/>
          <p:cNvSpPr/>
          <p:nvPr/>
        </p:nvSpPr>
        <p:spPr>
          <a:xfrm>
            <a:off x="507950" y="4648200"/>
            <a:ext cx="8290661" cy="114300"/>
          </a:xfrm>
          <a:prstGeom prst="rect">
            <a:avLst/>
          </a:prstGeom>
          <a:noFill/>
          <a:ln/>
        </p:spPr>
        <p:txBody>
          <a:bodyPr wrap="square" lIns="0" tIns="0" rIns="0" bIns="0" rtlCol="0" anchor="t"/>
          <a:lstStyle/>
          <a:p>
            <a:pPr algn="l" indent="0" marL="0">
              <a:spcBef>
                <a:spcPts val="2053"/>
              </a:spcBef>
              <a:buNone/>
            </a:pPr>
            <a:r>
              <a:rPr lang="en-US" sz="800" dirty="0">
                <a:solidFill>
                  <a:srgbClr val="5B5F73"/>
                </a:solidFill>
                <a:latin typeface="Arial" pitchFamily="34" charset="0"/>
                <a:ea typeface="Arial" pitchFamily="34" charset="-122"/>
                <a:cs typeface="Arial" pitchFamily="34" charset="-120"/>
              </a:rPr>
              <a:t>Illustrative projection: users × 2 trips/day × 17 min saved. For modelling only.</a:t>
            </a:r>
            <a:endParaRPr lang="en-US" sz="800" dirty="0"/>
          </a:p>
        </p:txBody>
      </p:sp>
      <p:graphicFrame>
        <p:nvGraphicFramePr>
          <p:cNvPr id="12" name="Chart 0" descr=""/>
          <p:cNvGraphicFramePr/>
          <p:nvPr/>
        </p:nvGraphicFramePr>
        <p:xfrm>
          <a:off x="3835301" y="1403003"/>
          <a:ext cx="4191000" cy="298445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THE OPPORTUNITY</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A large, fast-growing market.</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Text 2"/>
          <p:cNvSpPr/>
          <p:nvPr/>
        </p:nvSpPr>
        <p:spPr>
          <a:xfrm>
            <a:off x="507950" y="1479203"/>
            <a:ext cx="3174950" cy="1079302"/>
          </a:xfrm>
          <a:prstGeom prst="rect">
            <a:avLst/>
          </a:prstGeom>
          <a:noFill/>
          <a:ln/>
        </p:spPr>
        <p:txBody>
          <a:bodyPr wrap="square" lIns="88900" tIns="0" rIns="0" bIns="0" rtlCol="0" anchor="t"/>
          <a:lstStyle/>
          <a:p>
            <a:pPr algn="l" marL="88900" indent="-88900">
              <a:lnSpc>
                <a:spcPts val="2125"/>
              </a:lnSpc>
              <a:buSzPct val="100000"/>
              <a:buChar char="•"/>
            </a:pPr>
            <a:r>
              <a:rPr lang="en-US" sz="1250" b="1" dirty="0">
                <a:solidFill>
                  <a:srgbClr val="E879F9"/>
                </a:solidFill>
                <a:latin typeface="Arial" pitchFamily="34" charset="0"/>
                <a:ea typeface="Arial" pitchFamily="34" charset="-122"/>
                <a:cs typeface="Arial" pitchFamily="34" charset="-120"/>
              </a:rPr>
              <a:t>350M+</a:t>
            </a:r>
            <a:pPr algn="l" indent="0" marL="0">
              <a:lnSpc>
                <a:spcPts val="2125"/>
              </a:lnSpc>
              <a:buNone/>
            </a:pPr>
            <a:r>
              <a:rPr lang="en-US" sz="1250" dirty="0">
                <a:solidFill>
                  <a:srgbClr val="CFD0DB"/>
                </a:solidFill>
                <a:latin typeface="Arial" pitchFamily="34" charset="0"/>
                <a:ea typeface="Arial" pitchFamily="34" charset="-122"/>
                <a:cs typeface="Arial" pitchFamily="34" charset="-120"/>
              </a:rPr>
              <a:t> registered vehicles nationwide</a:t>
            </a:r>
            <a:endParaRPr lang="en-US" sz="1250" dirty="0"/>
          </a:p>
          <a:p>
            <a:pPr algn="l" marL="88900" indent="-88900">
              <a:lnSpc>
                <a:spcPts val="2125"/>
              </a:lnSpc>
              <a:buSzPct val="100000"/>
              <a:buChar char="•"/>
            </a:pPr>
            <a:r>
              <a:rPr lang="en-US" sz="1250" b="1" dirty="0">
                <a:solidFill>
                  <a:srgbClr val="E879F9"/>
                </a:solidFill>
                <a:latin typeface="Arial" pitchFamily="34" charset="0"/>
                <a:ea typeface="Arial" pitchFamily="34" charset="-122"/>
                <a:cs typeface="Arial" pitchFamily="34" charset="-120"/>
              </a:rPr>
              <a:t>500M+</a:t>
            </a:r>
            <a:pPr algn="l" indent="0" marL="0">
              <a:lnSpc>
                <a:spcPts val="2125"/>
              </a:lnSpc>
              <a:buNone/>
            </a:pPr>
            <a:r>
              <a:rPr lang="en-US" sz="1250" dirty="0">
                <a:solidFill>
                  <a:srgbClr val="CFD0DB"/>
                </a:solidFill>
                <a:latin typeface="Arial" pitchFamily="34" charset="0"/>
                <a:ea typeface="Arial" pitchFamily="34" charset="-122"/>
                <a:cs typeface="Arial" pitchFamily="34" charset="-120"/>
              </a:rPr>
              <a:t> people living in urban India</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Smart-parking adoption rising with UPI &amp; smartphones</a:t>
            </a:r>
            <a:endParaRPr lang="en-US" sz="1250" dirty="0"/>
          </a:p>
        </p:txBody>
      </p:sp>
      <p:sp>
        <p:nvSpPr>
          <p:cNvPr id="6" name="Text 3"/>
          <p:cNvSpPr/>
          <p:nvPr/>
        </p:nvSpPr>
        <p:spPr>
          <a:xfrm>
            <a:off x="507950" y="2685455"/>
            <a:ext cx="3238449" cy="460474"/>
          </a:xfrm>
          <a:prstGeom prst="rect">
            <a:avLst/>
          </a:prstGeom>
          <a:noFill/>
          <a:ln/>
        </p:spPr>
        <p:txBody>
          <a:bodyPr wrap="square" lIns="0" tIns="0" rIns="0" bIns="0" rtlCol="0" anchor="t"/>
          <a:lstStyle/>
          <a:p>
            <a:pPr algn="l" indent="0" marL="0">
              <a:lnSpc>
                <a:spcPts val="1813"/>
              </a:lnSpc>
              <a:spcBef>
                <a:spcPts val="1000"/>
              </a:spcBef>
              <a:buNone/>
            </a:pPr>
            <a:r>
              <a:rPr lang="en-US" sz="1250" dirty="0">
                <a:solidFill>
                  <a:srgbClr val="9AA0B5"/>
                </a:solidFill>
                <a:latin typeface="Arial" pitchFamily="34" charset="0"/>
                <a:ea typeface="Arial" pitchFamily="34" charset="-122"/>
                <a:cs typeface="Arial" pitchFamily="34" charset="-120"/>
              </a:rPr>
              <a:t>Even a sliver of urban drivers is a multi-crore opportunity.</a:t>
            </a:r>
            <a:endParaRPr lang="en-US" sz="1250" dirty="0"/>
          </a:p>
        </p:txBody>
      </p:sp>
      <p:sp>
        <p:nvSpPr>
          <p:cNvPr id="7" name="Text 4"/>
          <p:cNvSpPr/>
          <p:nvPr/>
        </p:nvSpPr>
        <p:spPr>
          <a:xfrm>
            <a:off x="507950" y="4648200"/>
            <a:ext cx="8290661" cy="114300"/>
          </a:xfrm>
          <a:prstGeom prst="rect">
            <a:avLst/>
          </a:prstGeom>
          <a:noFill/>
          <a:ln/>
        </p:spPr>
        <p:txBody>
          <a:bodyPr wrap="square" lIns="0" tIns="0" rIns="0" bIns="0" rtlCol="0" anchor="t"/>
          <a:lstStyle/>
          <a:p>
            <a:pPr algn="l" indent="0" marL="0">
              <a:spcBef>
                <a:spcPts val="2053"/>
              </a:spcBef>
              <a:buNone/>
            </a:pPr>
            <a:r>
              <a:rPr lang="en-US" sz="800" dirty="0">
                <a:solidFill>
                  <a:srgbClr val="5B5F73"/>
                </a:solidFill>
                <a:latin typeface="Arial" pitchFamily="34" charset="0"/>
                <a:ea typeface="Arial" pitchFamily="34" charset="-122"/>
                <a:cs typeface="Arial" pitchFamily="34" charset="-120"/>
              </a:rPr>
              <a:t>Market-size curve is illustrative (indicative CAGR); replace with sourced figures before fundraising.</a:t>
            </a:r>
            <a:endParaRPr lang="en-US" sz="800" dirty="0"/>
          </a:p>
        </p:txBody>
      </p:sp>
      <p:graphicFrame>
        <p:nvGraphicFramePr>
          <p:cNvPr id="9" name="Chart 0" descr=""/>
          <p:cNvGraphicFramePr/>
          <p:nvPr/>
        </p:nvGraphicFramePr>
        <p:xfrm>
          <a:off x="3835301" y="1403003"/>
          <a:ext cx="4191000" cy="298445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BUSINESS MODEL</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Multiple ways to earn.</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Text 2"/>
          <p:cNvSpPr/>
          <p:nvPr/>
        </p:nvSpPr>
        <p:spPr>
          <a:xfrm>
            <a:off x="507950" y="1479203"/>
            <a:ext cx="3174950" cy="1079302"/>
          </a:xfrm>
          <a:prstGeom prst="rect">
            <a:avLst/>
          </a:prstGeom>
          <a:noFill/>
          <a:ln/>
        </p:spPr>
        <p:txBody>
          <a:bodyPr wrap="square" lIns="88900" tIns="0" rIns="0" bIns="0" rtlCol="0" anchor="t"/>
          <a:lstStyle/>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Commission on every booking</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Owner subscriptions &amp; featured listings</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Dynamic / surge pricing share</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Ads &amp; partnerships (EV, insurance)</a:t>
            </a:r>
            <a:endParaRPr lang="en-US" sz="1250" dirty="0"/>
          </a:p>
        </p:txBody>
      </p:sp>
      <p:sp>
        <p:nvSpPr>
          <p:cNvPr id="6" name="Text 3"/>
          <p:cNvSpPr/>
          <p:nvPr/>
        </p:nvSpPr>
        <p:spPr>
          <a:xfrm>
            <a:off x="507950" y="2685455"/>
            <a:ext cx="3238449" cy="460474"/>
          </a:xfrm>
          <a:prstGeom prst="rect">
            <a:avLst/>
          </a:prstGeom>
          <a:noFill/>
          <a:ln/>
        </p:spPr>
        <p:txBody>
          <a:bodyPr wrap="square" lIns="0" tIns="0" rIns="0" bIns="0" rtlCol="0" anchor="t"/>
          <a:lstStyle/>
          <a:p>
            <a:pPr algn="l" indent="0" marL="0">
              <a:lnSpc>
                <a:spcPts val="1813"/>
              </a:lnSpc>
              <a:spcBef>
                <a:spcPts val="1000"/>
              </a:spcBef>
              <a:buNone/>
            </a:pPr>
            <a:r>
              <a:rPr lang="en-US" sz="1250" dirty="0">
                <a:solidFill>
                  <a:srgbClr val="9AA0B5"/>
                </a:solidFill>
                <a:latin typeface="Arial" pitchFamily="34" charset="0"/>
                <a:ea typeface="Arial" pitchFamily="34" charset="-122"/>
                <a:cs typeface="Arial" pitchFamily="34" charset="-120"/>
              </a:rPr>
              <a:t>Asset-light: we monetise spaces that already exist.</a:t>
            </a:r>
            <a:endParaRPr lang="en-US" sz="1250" dirty="0"/>
          </a:p>
        </p:txBody>
      </p:sp>
      <p:graphicFrame>
        <p:nvGraphicFramePr>
          <p:cNvPr id="8" name="Chart 0" descr=""/>
          <p:cNvGraphicFramePr/>
          <p:nvPr/>
        </p:nvGraphicFramePr>
        <p:xfrm>
          <a:off x="3835301" y="1403003"/>
          <a:ext cx="4191000" cy="298445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WHY PARKEASE</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Edge today, vision for tomorrow.</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Text 2"/>
          <p:cNvSpPr/>
          <p:nvPr/>
        </p:nvSpPr>
        <p:spPr>
          <a:xfrm>
            <a:off x="507950" y="1453902"/>
            <a:ext cx="3810000" cy="2076004"/>
          </a:xfrm>
          <a:prstGeom prst="roundRect">
            <a:avLst>
              <a:gd name="adj" fmla="val 6729"/>
            </a:avLst>
          </a:prstGeom>
          <a:solidFill>
            <a:srgbClr val="15131F"/>
          </a:solidFill>
          <a:ln w="9525">
            <a:solidFill>
              <a:srgbClr val="2A2740"/>
            </a:solidFill>
          </a:ln>
        </p:spPr>
        <p:txBody>
          <a:bodyPr wrap="square" rtlCol="0" anchor="ctr"/>
          <a:lstStyle/>
          <a:p>
            <a:pPr indent="0" marL="0">
              <a:buNone/>
            </a:pPr>
            <a:endParaRPr lang="en-US" dirty="0"/>
          </a:p>
        </p:txBody>
      </p:sp>
      <p:sp>
        <p:nvSpPr>
          <p:cNvPr id="6" name="Text 3"/>
          <p:cNvSpPr/>
          <p:nvPr/>
        </p:nvSpPr>
        <p:spPr>
          <a:xfrm>
            <a:off x="720626" y="1666577"/>
            <a:ext cx="3452342" cy="200025"/>
          </a:xfrm>
          <a:prstGeom prst="rect">
            <a:avLst/>
          </a:prstGeom>
          <a:noFill/>
          <a:ln/>
        </p:spPr>
        <p:txBody>
          <a:bodyPr wrap="square" lIns="0" tIns="0" rIns="0" bIns="0" rtlCol="0" anchor="t"/>
          <a:lstStyle/>
          <a:p>
            <a:pPr algn="l" indent="0" marL="0">
              <a:buNone/>
            </a:pPr>
            <a:r>
              <a:rPr lang="en-US" sz="1300" b="1" dirty="0">
                <a:solidFill>
                  <a:srgbClr val="C084FC"/>
                </a:solidFill>
                <a:latin typeface="Arial" pitchFamily="34" charset="0"/>
                <a:ea typeface="Arial" pitchFamily="34" charset="-122"/>
                <a:cs typeface="Arial" pitchFamily="34" charset="-120"/>
              </a:rPr>
              <a:t>Our edge</a:t>
            </a:r>
            <a:endParaRPr lang="en-US" sz="1300" dirty="0"/>
          </a:p>
        </p:txBody>
      </p:sp>
      <p:sp>
        <p:nvSpPr>
          <p:cNvPr id="7" name="Text 4"/>
          <p:cNvSpPr/>
          <p:nvPr/>
        </p:nvSpPr>
        <p:spPr>
          <a:xfrm>
            <a:off x="720626" y="1968103"/>
            <a:ext cx="3384649" cy="1349127"/>
          </a:xfrm>
          <a:prstGeom prst="rect">
            <a:avLst/>
          </a:prstGeom>
          <a:noFill/>
          <a:ln/>
        </p:spPr>
        <p:txBody>
          <a:bodyPr wrap="square" lIns="88900" tIns="0" rIns="0" bIns="0" rtlCol="0" anchor="t"/>
          <a:lstStyle/>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Aggregates lots, street &amp; private spaces in one app</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Real-time, secure payments &amp; monitoring built in</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Verified reviews &amp; an AI assistant</a:t>
            </a:r>
            <a:endParaRPr lang="en-US" sz="1250" dirty="0"/>
          </a:p>
        </p:txBody>
      </p:sp>
      <p:sp>
        <p:nvSpPr>
          <p:cNvPr id="8" name="Text 5"/>
          <p:cNvSpPr/>
          <p:nvPr/>
        </p:nvSpPr>
        <p:spPr>
          <a:xfrm>
            <a:off x="4495651" y="1453902"/>
            <a:ext cx="3810000" cy="2076004"/>
          </a:xfrm>
          <a:prstGeom prst="roundRect">
            <a:avLst>
              <a:gd name="adj" fmla="val 6729"/>
            </a:avLst>
          </a:prstGeom>
          <a:solidFill>
            <a:srgbClr val="15131F"/>
          </a:solidFill>
          <a:ln w="9525">
            <a:solidFill>
              <a:srgbClr val="2A2740"/>
            </a:solidFill>
          </a:ln>
        </p:spPr>
        <p:txBody>
          <a:bodyPr wrap="square" rtlCol="0" anchor="ctr"/>
          <a:lstStyle/>
          <a:p>
            <a:pPr indent="0" marL="0">
              <a:buNone/>
            </a:pPr>
            <a:endParaRPr lang="en-US" dirty="0"/>
          </a:p>
        </p:txBody>
      </p:sp>
      <p:sp>
        <p:nvSpPr>
          <p:cNvPr id="9" name="Text 6"/>
          <p:cNvSpPr/>
          <p:nvPr/>
        </p:nvSpPr>
        <p:spPr>
          <a:xfrm>
            <a:off x="4708327" y="1666577"/>
            <a:ext cx="3452342" cy="200025"/>
          </a:xfrm>
          <a:prstGeom prst="rect">
            <a:avLst/>
          </a:prstGeom>
          <a:noFill/>
          <a:ln/>
        </p:spPr>
        <p:txBody>
          <a:bodyPr wrap="square" lIns="0" tIns="0" rIns="0" bIns="0" rtlCol="0" anchor="t"/>
          <a:lstStyle/>
          <a:p>
            <a:pPr algn="l" indent="0" marL="0">
              <a:buNone/>
            </a:pPr>
            <a:r>
              <a:rPr lang="en-US" sz="1300" b="1" dirty="0">
                <a:solidFill>
                  <a:srgbClr val="C084FC"/>
                </a:solidFill>
                <a:latin typeface="Arial" pitchFamily="34" charset="0"/>
                <a:ea typeface="Arial" pitchFamily="34" charset="-122"/>
                <a:cs typeface="Arial" pitchFamily="34" charset="-120"/>
              </a:rPr>
              <a:t>What’s next</a:t>
            </a:r>
            <a:endParaRPr lang="en-US" sz="1300" dirty="0"/>
          </a:p>
        </p:txBody>
      </p:sp>
      <p:sp>
        <p:nvSpPr>
          <p:cNvPr id="10" name="Text 7"/>
          <p:cNvSpPr/>
          <p:nvPr/>
        </p:nvSpPr>
        <p:spPr>
          <a:xfrm>
            <a:off x="4708327" y="1968103"/>
            <a:ext cx="3384649" cy="809476"/>
          </a:xfrm>
          <a:prstGeom prst="rect">
            <a:avLst/>
          </a:prstGeom>
          <a:noFill/>
          <a:ln/>
        </p:spPr>
        <p:txBody>
          <a:bodyPr wrap="square" lIns="88900" tIns="0" rIns="0" bIns="0" rtlCol="0" anchor="t"/>
          <a:lstStyle/>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AI availability prediction &amp; dynamic pricing</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EV-charging &amp; IoT sensor integration</a:t>
            </a:r>
            <a:endParaRPr lang="en-US" sz="1250" dirty="0"/>
          </a:p>
          <a:p>
            <a:pPr algn="l" marL="88900" indent="-88900">
              <a:lnSpc>
                <a:spcPts val="2125"/>
              </a:lnSpc>
              <a:buSzPct val="100000"/>
              <a:buChar char="•"/>
            </a:pPr>
            <a:r>
              <a:rPr lang="en-US" sz="1250" dirty="0">
                <a:solidFill>
                  <a:srgbClr val="CFD0DB"/>
                </a:solidFill>
                <a:latin typeface="Arial" pitchFamily="34" charset="0"/>
                <a:ea typeface="Arial" pitchFamily="34" charset="-122"/>
                <a:cs typeface="Arial" pitchFamily="34" charset="-120"/>
              </a:rPr>
              <a:t>Native mobile apps &amp; city partnerships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905024"/>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THE VISION</a:t>
            </a:r>
            <a:endParaRPr lang="en-US" sz="1100" dirty="0"/>
          </a:p>
        </p:txBody>
      </p:sp>
      <p:sp>
        <p:nvSpPr>
          <p:cNvPr id="3" name="Text 1"/>
          <p:cNvSpPr/>
          <p:nvPr/>
        </p:nvSpPr>
        <p:spPr>
          <a:xfrm>
            <a:off x="507950" y="1209824"/>
            <a:ext cx="8290661" cy="1168003"/>
          </a:xfrm>
          <a:prstGeom prst="rect">
            <a:avLst/>
          </a:prstGeom>
          <a:noFill/>
          <a:ln/>
        </p:spPr>
        <p:txBody>
          <a:bodyPr wrap="square" lIns="0" tIns="0" rIns="0" bIns="0" rtlCol="0" anchor="t"/>
          <a:lstStyle/>
          <a:p>
            <a:pPr algn="l" indent="0" marL="0">
              <a:lnSpc>
                <a:spcPts val="4600"/>
              </a:lnSpc>
              <a:spcBef>
                <a:spcPts val="1200"/>
              </a:spcBef>
              <a:buNone/>
            </a:pPr>
            <a:r>
              <a:rPr lang="en-US" sz="4000" dirty="0">
                <a:solidFill>
                  <a:srgbClr val="FFFFFF"/>
                </a:solidFill>
                <a:latin typeface="Arial" pitchFamily="34" charset="0"/>
                <a:ea typeface="Arial" pitchFamily="34" charset="-122"/>
                <a:cs typeface="Arial" pitchFamily="34" charset="-120"/>
              </a:rPr>
              <a:t>Park with certainty.
</a:t>
            </a:r>
            <a:pPr algn="l" indent="0" marL="0">
              <a:lnSpc>
                <a:spcPts val="4600"/>
              </a:lnSpc>
              <a:spcBef>
                <a:spcPts val="1200"/>
              </a:spcBef>
              <a:buNone/>
            </a:pPr>
            <a:r>
              <a:rPr lang="en-US" sz="4000" b="1" dirty="0">
                <a:solidFill>
                  <a:srgbClr val="C084FC"/>
                </a:solidFill>
                <a:latin typeface="Arial" pitchFamily="34" charset="0"/>
                <a:ea typeface="Arial" pitchFamily="34" charset="-122"/>
                <a:cs typeface="Arial" pitchFamily="34" charset="-120"/>
              </a:rPr>
              <a:t>Arrive with ease.</a:t>
            </a:r>
            <a:endParaRPr lang="en-US" sz="40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2580977"/>
            <a:ext cx="1905000" cy="76200"/>
          </a:xfrm>
          <a:prstGeom prst="rect">
            <a:avLst/>
          </a:prstGeom>
        </p:spPr>
      </p:pic>
      <p:sp>
        <p:nvSpPr>
          <p:cNvPr id="5" name="Text 2"/>
          <p:cNvSpPr/>
          <p:nvPr/>
        </p:nvSpPr>
        <p:spPr>
          <a:xfrm>
            <a:off x="507950" y="2885777"/>
            <a:ext cx="7254139" cy="533400"/>
          </a:xfrm>
          <a:prstGeom prst="rect">
            <a:avLst/>
          </a:prstGeom>
          <a:noFill/>
          <a:ln/>
        </p:spPr>
        <p:txBody>
          <a:bodyPr wrap="square" lIns="0" tIns="0" rIns="0" bIns="0" rtlCol="0" anchor="t"/>
          <a:lstStyle/>
          <a:p>
            <a:pPr algn="l" indent="0" marL="0">
              <a:lnSpc>
                <a:spcPts val="2100"/>
              </a:lnSpc>
              <a:spcBef>
                <a:spcPts val="1800"/>
              </a:spcBef>
              <a:buNone/>
            </a:pPr>
            <a:r>
              <a:rPr lang="en-US" sz="1400" dirty="0">
                <a:solidFill>
                  <a:srgbClr val="C6C8D4"/>
                </a:solidFill>
                <a:latin typeface="Arial" pitchFamily="34" charset="0"/>
                <a:ea typeface="Arial" pitchFamily="34" charset="-122"/>
                <a:cs typeface="Arial" pitchFamily="34" charset="-120"/>
              </a:rPr>
              <a:t>ParkEase turns wasted minutes and avoidable fines into a single tap — making India’s cities move a little more smoothly.</a:t>
            </a:r>
            <a:endParaRPr lang="en-US" sz="1400" dirty="0"/>
          </a:p>
        </p:txBody>
      </p:sp>
      <p:sp>
        <p:nvSpPr>
          <p:cNvPr id="6" name="Text 3"/>
          <p:cNvSpPr/>
          <p:nvPr/>
        </p:nvSpPr>
        <p:spPr>
          <a:xfrm>
            <a:off x="507950" y="3723977"/>
            <a:ext cx="8290661" cy="171450"/>
          </a:xfrm>
          <a:prstGeom prst="rect">
            <a:avLst/>
          </a:prstGeom>
          <a:noFill/>
          <a:ln/>
        </p:spPr>
        <p:txBody>
          <a:bodyPr wrap="square" lIns="0" tIns="0" rIns="0" bIns="0" rtlCol="0" anchor="t"/>
          <a:lstStyle/>
          <a:p>
            <a:pPr algn="l" indent="0" marL="0">
              <a:spcBef>
                <a:spcPts val="2400"/>
              </a:spcBef>
              <a:buNone/>
            </a:pPr>
            <a:r>
              <a:rPr lang="en-US" sz="1200" dirty="0">
                <a:solidFill>
                  <a:srgbClr val="8B8FA6"/>
                </a:solidFill>
                <a:latin typeface="Arial" pitchFamily="34" charset="0"/>
                <a:ea typeface="Arial" pitchFamily="34" charset="-122"/>
                <a:cs typeface="Arial" pitchFamily="34" charset="-120"/>
              </a:rPr>
              <a:t>Thank you.   Let’s build the future of parking.</a:t>
            </a:r>
            <a:endParaRPr lang="en-US" sz="1200" dirty="0"/>
          </a:p>
        </p:txBody>
      </p:sp>
      <p:sp>
        <p:nvSpPr>
          <p:cNvPr id="7" name="Text 4"/>
          <p:cNvSpPr/>
          <p:nvPr/>
        </p:nvSpPr>
        <p:spPr>
          <a:xfrm>
            <a:off x="507950" y="4124027"/>
            <a:ext cx="8290661" cy="114300"/>
          </a:xfrm>
          <a:prstGeom prst="rect">
            <a:avLst/>
          </a:prstGeom>
          <a:noFill/>
          <a:ln/>
        </p:spPr>
        <p:txBody>
          <a:bodyPr wrap="square" lIns="0" tIns="0" rIns="0" bIns="0" rtlCol="0" anchor="t"/>
          <a:lstStyle/>
          <a:p>
            <a:pPr algn="l" indent="0" marL="0">
              <a:spcBef>
                <a:spcPts val="1800"/>
              </a:spcBef>
              <a:buNone/>
            </a:pPr>
            <a:r>
              <a:rPr lang="en-US" sz="800" dirty="0">
                <a:solidFill>
                  <a:srgbClr val="5B5F73"/>
                </a:solidFill>
                <a:latin typeface="Arial" pitchFamily="34" charset="0"/>
                <a:ea typeface="Arial" pitchFamily="34" charset="-122"/>
                <a:cs typeface="Arial" pitchFamily="34" charset="-120"/>
              </a:rPr>
              <a:t>All statistics are reported/illustrative figures included for discussion; verify and cite primary sources before any public or investor use.</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12"/>
        </a:solidFill>
      </p:bgPr>
    </p:bg>
    <p:spTree>
      <p:nvGrpSpPr>
        <p:cNvPr id="1" name=""/>
        <p:cNvGrpSpPr/>
        <p:nvPr/>
      </p:nvGrpSpPr>
      <p:grpSpPr>
        <a:xfrm>
          <a:off x="0" y="0"/>
          <a:ext cx="0" cy="0"/>
          <a:chOff x="0" y="0"/>
          <a:chExt cx="0" cy="0"/>
        </a:xfrm>
      </p:grpSpPr>
      <p:sp>
        <p:nvSpPr>
          <p:cNvPr id="2" name="Text 0"/>
          <p:cNvSpPr/>
          <p:nvPr/>
        </p:nvSpPr>
        <p:spPr>
          <a:xfrm>
            <a:off x="507950" y="381000"/>
            <a:ext cx="8290661" cy="152400"/>
          </a:xfrm>
          <a:prstGeom prst="rect">
            <a:avLst/>
          </a:prstGeom>
          <a:noFill/>
          <a:ln/>
        </p:spPr>
        <p:txBody>
          <a:bodyPr wrap="square" lIns="0" tIns="0" rIns="0" bIns="0" rtlCol="0" anchor="t"/>
          <a:lstStyle/>
          <a:p>
            <a:pPr algn="l" indent="0" marL="0">
              <a:buNone/>
            </a:pPr>
            <a:r>
              <a:rPr lang="en-US" sz="1100" b="1" dirty="0">
                <a:solidFill>
                  <a:srgbClr val="C084FC"/>
                </a:solidFill>
                <a:latin typeface="Arial" pitchFamily="34" charset="0"/>
                <a:ea typeface="Arial" pitchFamily="34" charset="-122"/>
                <a:cs typeface="Arial" pitchFamily="34" charset="-120"/>
              </a:rPr>
              <a:t>APPENDIX</a:t>
            </a:r>
            <a:endParaRPr lang="en-US" sz="1100" dirty="0"/>
          </a:p>
        </p:txBody>
      </p:sp>
      <p:sp>
        <p:nvSpPr>
          <p:cNvPr id="3" name="Text 1"/>
          <p:cNvSpPr/>
          <p:nvPr/>
        </p:nvSpPr>
        <p:spPr>
          <a:xfrm>
            <a:off x="507950" y="634901"/>
            <a:ext cx="8290661" cy="400050"/>
          </a:xfrm>
          <a:prstGeom prst="rect">
            <a:avLst/>
          </a:prstGeom>
          <a:noFill/>
          <a:ln/>
        </p:spPr>
        <p:txBody>
          <a:bodyPr wrap="square" lIns="0" tIns="0" rIns="0" bIns="0" rtlCol="0" anchor="t"/>
          <a:lstStyle/>
          <a:p>
            <a:pPr algn="l" indent="0" marL="0">
              <a:spcBef>
                <a:spcPts val="800"/>
              </a:spcBef>
              <a:buNone/>
            </a:pPr>
            <a:r>
              <a:rPr lang="en-US" sz="2700" b="1" dirty="0">
                <a:solidFill>
                  <a:srgbClr val="FFFFFF"/>
                </a:solidFill>
                <a:latin typeface="Arial" pitchFamily="34" charset="0"/>
                <a:ea typeface="Arial" pitchFamily="34" charset="-122"/>
                <a:cs typeface="Arial" pitchFamily="34" charset="-120"/>
              </a:rPr>
              <a:t>Sources &amp; notes.</a:t>
            </a:r>
            <a:endParaRPr lang="en-US" sz="2700" dirty="0"/>
          </a:p>
        </p:txBody>
      </p:sp>
      <p:pic>
        <p:nvPicPr>
          <p:cNvPr id="4" name="Image 0" descr="/Users/yashwantyadav/Desktop/Parking_assist/deck-build/assets/gradbar.png">    </p:cNvPr>
          <p:cNvPicPr>
            <a:picLocks noChangeAspect="1"/>
          </p:cNvPicPr>
          <p:nvPr/>
        </p:nvPicPr>
        <p:blipFill>
          <a:blip r:embed="rId1"/>
          <a:stretch>
            <a:fillRect/>
          </a:stretch>
        </p:blipFill>
        <p:spPr>
          <a:xfrm>
            <a:off x="507950" y="1161901"/>
            <a:ext cx="1143000" cy="63401"/>
          </a:xfrm>
          <a:prstGeom prst="rect">
            <a:avLst/>
          </a:prstGeom>
        </p:spPr>
      </p:pic>
      <p:sp>
        <p:nvSpPr>
          <p:cNvPr id="5" name="Shape 2"/>
          <p:cNvSpPr/>
          <p:nvPr/>
        </p:nvSpPr>
        <p:spPr>
          <a:xfrm>
            <a:off x="507950" y="1737866"/>
            <a:ext cx="8128099" cy="0"/>
          </a:xfrm>
          <a:prstGeom prst="line">
            <a:avLst/>
          </a:prstGeom>
          <a:noFill/>
          <a:ln w="9525">
            <a:solidFill>
              <a:srgbClr val="211F30"/>
            </a:solidFill>
            <a:prstDash val="solid"/>
          </a:ln>
        </p:spPr>
      </p:sp>
      <p:sp>
        <p:nvSpPr>
          <p:cNvPr id="6" name="Text 3"/>
          <p:cNvSpPr/>
          <p:nvPr/>
        </p:nvSpPr>
        <p:spPr>
          <a:xfrm>
            <a:off x="507950" y="1491853"/>
            <a:ext cx="4274820" cy="152400"/>
          </a:xfrm>
          <a:prstGeom prst="rect">
            <a:avLst/>
          </a:prstGeom>
          <a:noFill/>
          <a:ln/>
        </p:spPr>
        <p:txBody>
          <a:bodyPr wrap="square" lIns="0" tIns="0" rIns="0" bIns="0" rtlCol="0" anchor="t"/>
          <a:lstStyle/>
          <a:p>
            <a:pPr algn="l" indent="0" marL="0">
              <a:buNone/>
            </a:pPr>
            <a:r>
              <a:rPr lang="en-US" sz="1050" dirty="0">
                <a:solidFill>
                  <a:srgbClr val="D3D4DE"/>
                </a:solidFill>
                <a:latin typeface="Arial" pitchFamily="34" charset="0"/>
                <a:ea typeface="Arial" pitchFamily="34" charset="-122"/>
                <a:cs typeface="Arial" pitchFamily="34" charset="-120"/>
              </a:rPr>
              <a:t>8 Cr+ traffic challans / year (India)</a:t>
            </a:r>
            <a:endParaRPr lang="en-US" sz="1050" dirty="0"/>
          </a:p>
        </p:txBody>
      </p:sp>
      <p:sp>
        <p:nvSpPr>
          <p:cNvPr id="7" name="Text 4"/>
          <p:cNvSpPr/>
          <p:nvPr/>
        </p:nvSpPr>
        <p:spPr>
          <a:xfrm>
            <a:off x="5008980" y="1491853"/>
            <a:ext cx="3627069" cy="152400"/>
          </a:xfrm>
          <a:prstGeom prst="rect">
            <a:avLst/>
          </a:prstGeom>
          <a:noFill/>
          <a:ln/>
        </p:spPr>
        <p:txBody>
          <a:bodyPr wrap="square" lIns="0" tIns="0" rIns="0" bIns="0" rtlCol="0" anchor="t"/>
          <a:lstStyle/>
          <a:p>
            <a:pPr algn="r" indent="0" marL="0">
              <a:buNone/>
            </a:pPr>
            <a:r>
              <a:rPr lang="en-US" sz="1000" dirty="0">
                <a:solidFill>
                  <a:srgbClr val="8B8FA6"/>
                </a:solidFill>
                <a:latin typeface="Arial" pitchFamily="34" charset="0"/>
                <a:ea typeface="Arial" pitchFamily="34" charset="-122"/>
                <a:cs typeface="Arial" pitchFamily="34" charset="-120"/>
              </a:rPr>
              <a:t>NCRB / MoRTH / national press reports</a:t>
            </a:r>
            <a:endParaRPr lang="en-US" sz="1000" dirty="0"/>
          </a:p>
        </p:txBody>
      </p:sp>
      <p:sp>
        <p:nvSpPr>
          <p:cNvPr id="8" name="Shape 5"/>
          <p:cNvSpPr/>
          <p:nvPr/>
        </p:nvSpPr>
        <p:spPr>
          <a:xfrm>
            <a:off x="507950" y="2077492"/>
            <a:ext cx="8128099" cy="0"/>
          </a:xfrm>
          <a:prstGeom prst="line">
            <a:avLst/>
          </a:prstGeom>
          <a:noFill/>
          <a:ln w="9525">
            <a:solidFill>
              <a:srgbClr val="211F30"/>
            </a:solidFill>
            <a:prstDash val="solid"/>
          </a:ln>
        </p:spPr>
      </p:sp>
      <p:sp>
        <p:nvSpPr>
          <p:cNvPr id="9" name="Text 6"/>
          <p:cNvSpPr/>
          <p:nvPr/>
        </p:nvSpPr>
        <p:spPr>
          <a:xfrm>
            <a:off x="507950" y="1831479"/>
            <a:ext cx="4274820" cy="152400"/>
          </a:xfrm>
          <a:prstGeom prst="rect">
            <a:avLst/>
          </a:prstGeom>
          <a:noFill/>
          <a:ln/>
        </p:spPr>
        <p:txBody>
          <a:bodyPr wrap="square" lIns="0" tIns="0" rIns="0" bIns="0" rtlCol="0" anchor="t"/>
          <a:lstStyle/>
          <a:p>
            <a:pPr algn="l" indent="0" marL="0">
              <a:buNone/>
            </a:pPr>
            <a:r>
              <a:rPr lang="en-US" sz="1050" dirty="0">
                <a:solidFill>
                  <a:srgbClr val="D3D4DE"/>
                </a:solidFill>
                <a:latin typeface="Arial" pitchFamily="34" charset="0"/>
                <a:ea typeface="Arial" pitchFamily="34" charset="-122"/>
                <a:cs typeface="Arial" pitchFamily="34" charset="-120"/>
              </a:rPr>
              <a:t>2.7 lakh illegal-parking challans, Noida (1 year)</a:t>
            </a:r>
            <a:endParaRPr lang="en-US" sz="1050" dirty="0"/>
          </a:p>
        </p:txBody>
      </p:sp>
      <p:sp>
        <p:nvSpPr>
          <p:cNvPr id="10" name="Text 7"/>
          <p:cNvSpPr/>
          <p:nvPr/>
        </p:nvSpPr>
        <p:spPr>
          <a:xfrm>
            <a:off x="5008980" y="1831479"/>
            <a:ext cx="3627069" cy="152400"/>
          </a:xfrm>
          <a:prstGeom prst="rect">
            <a:avLst/>
          </a:prstGeom>
          <a:noFill/>
          <a:ln/>
        </p:spPr>
        <p:txBody>
          <a:bodyPr wrap="square" lIns="0" tIns="0" rIns="0" bIns="0" rtlCol="0" anchor="t"/>
          <a:lstStyle/>
          <a:p>
            <a:pPr algn="r" indent="0" marL="0">
              <a:buNone/>
            </a:pPr>
            <a:r>
              <a:rPr lang="en-US" sz="1000" dirty="0">
                <a:solidFill>
                  <a:srgbClr val="8B8FA6"/>
                </a:solidFill>
                <a:latin typeface="Arial" pitchFamily="34" charset="0"/>
                <a:ea typeface="Arial" pitchFamily="34" charset="-122"/>
                <a:cs typeface="Arial" pitchFamily="34" charset="-120"/>
              </a:rPr>
              <a:t>Noida Traffic Police / press reports</a:t>
            </a:r>
            <a:endParaRPr lang="en-US" sz="1000" dirty="0"/>
          </a:p>
        </p:txBody>
      </p:sp>
      <p:sp>
        <p:nvSpPr>
          <p:cNvPr id="11" name="Shape 8"/>
          <p:cNvSpPr/>
          <p:nvPr/>
        </p:nvSpPr>
        <p:spPr>
          <a:xfrm>
            <a:off x="507950" y="2417118"/>
            <a:ext cx="8128099" cy="0"/>
          </a:xfrm>
          <a:prstGeom prst="line">
            <a:avLst/>
          </a:prstGeom>
          <a:noFill/>
          <a:ln w="9525">
            <a:solidFill>
              <a:srgbClr val="211F30"/>
            </a:solidFill>
            <a:prstDash val="solid"/>
          </a:ln>
        </p:spPr>
      </p:sp>
      <p:sp>
        <p:nvSpPr>
          <p:cNvPr id="12" name="Text 9"/>
          <p:cNvSpPr/>
          <p:nvPr/>
        </p:nvSpPr>
        <p:spPr>
          <a:xfrm>
            <a:off x="507950" y="2171105"/>
            <a:ext cx="4274820" cy="152400"/>
          </a:xfrm>
          <a:prstGeom prst="rect">
            <a:avLst/>
          </a:prstGeom>
          <a:noFill/>
          <a:ln/>
        </p:spPr>
        <p:txBody>
          <a:bodyPr wrap="square" lIns="0" tIns="0" rIns="0" bIns="0" rtlCol="0" anchor="t"/>
          <a:lstStyle/>
          <a:p>
            <a:pPr algn="l" indent="0" marL="0">
              <a:buNone/>
            </a:pPr>
            <a:r>
              <a:rPr lang="en-US" sz="1050" dirty="0">
                <a:solidFill>
                  <a:srgbClr val="D3D4DE"/>
                </a:solidFill>
                <a:latin typeface="Arial" pitchFamily="34" charset="0"/>
                <a:ea typeface="Arial" pitchFamily="34" charset="-122"/>
                <a:cs typeface="Arial" pitchFamily="34" charset="-120"/>
              </a:rPr>
              <a:t>~65,000 illegal-parking challans / month, Delhi</a:t>
            </a:r>
            <a:endParaRPr lang="en-US" sz="1050" dirty="0"/>
          </a:p>
        </p:txBody>
      </p:sp>
      <p:sp>
        <p:nvSpPr>
          <p:cNvPr id="13" name="Text 10"/>
          <p:cNvSpPr/>
          <p:nvPr/>
        </p:nvSpPr>
        <p:spPr>
          <a:xfrm>
            <a:off x="5008980" y="2171105"/>
            <a:ext cx="3627069" cy="152400"/>
          </a:xfrm>
          <a:prstGeom prst="rect">
            <a:avLst/>
          </a:prstGeom>
          <a:noFill/>
          <a:ln/>
        </p:spPr>
        <p:txBody>
          <a:bodyPr wrap="square" lIns="0" tIns="0" rIns="0" bIns="0" rtlCol="0" anchor="t"/>
          <a:lstStyle/>
          <a:p>
            <a:pPr algn="r" indent="0" marL="0">
              <a:buNone/>
            </a:pPr>
            <a:r>
              <a:rPr lang="en-US" sz="1000" dirty="0">
                <a:solidFill>
                  <a:srgbClr val="8B8FA6"/>
                </a:solidFill>
                <a:latin typeface="Arial" pitchFamily="34" charset="0"/>
                <a:ea typeface="Arial" pitchFamily="34" charset="-122"/>
                <a:cs typeface="Arial" pitchFamily="34" charset="-120"/>
              </a:rPr>
              <a:t>Delhi Traffic Police / press reports</a:t>
            </a:r>
            <a:endParaRPr lang="en-US" sz="1000" dirty="0"/>
          </a:p>
        </p:txBody>
      </p:sp>
      <p:sp>
        <p:nvSpPr>
          <p:cNvPr id="14" name="Shape 11"/>
          <p:cNvSpPr/>
          <p:nvPr/>
        </p:nvSpPr>
        <p:spPr>
          <a:xfrm>
            <a:off x="507950" y="2756743"/>
            <a:ext cx="8128099" cy="0"/>
          </a:xfrm>
          <a:prstGeom prst="line">
            <a:avLst/>
          </a:prstGeom>
          <a:noFill/>
          <a:ln w="9525">
            <a:solidFill>
              <a:srgbClr val="211F30"/>
            </a:solidFill>
            <a:prstDash val="solid"/>
          </a:ln>
        </p:spPr>
      </p:sp>
      <p:sp>
        <p:nvSpPr>
          <p:cNvPr id="15" name="Text 12"/>
          <p:cNvSpPr/>
          <p:nvPr/>
        </p:nvSpPr>
        <p:spPr>
          <a:xfrm>
            <a:off x="507950" y="2510730"/>
            <a:ext cx="4274820" cy="152400"/>
          </a:xfrm>
          <a:prstGeom prst="rect">
            <a:avLst/>
          </a:prstGeom>
          <a:noFill/>
          <a:ln/>
        </p:spPr>
        <p:txBody>
          <a:bodyPr wrap="square" lIns="0" tIns="0" rIns="0" bIns="0" rtlCol="0" anchor="t"/>
          <a:lstStyle/>
          <a:p>
            <a:pPr algn="l" indent="0" marL="0">
              <a:buNone/>
            </a:pPr>
            <a:r>
              <a:rPr lang="en-US" sz="1050" dirty="0">
                <a:solidFill>
                  <a:srgbClr val="D3D4DE"/>
                </a:solidFill>
                <a:latin typeface="Arial" pitchFamily="34" charset="0"/>
                <a:ea typeface="Arial" pitchFamily="34" charset="-122"/>
                <a:cs typeface="Arial" pitchFamily="34" charset="-120"/>
              </a:rPr>
              <a:t>350M+ registered vehicles in India</a:t>
            </a:r>
            <a:endParaRPr lang="en-US" sz="1050" dirty="0"/>
          </a:p>
        </p:txBody>
      </p:sp>
      <p:sp>
        <p:nvSpPr>
          <p:cNvPr id="16" name="Text 13"/>
          <p:cNvSpPr/>
          <p:nvPr/>
        </p:nvSpPr>
        <p:spPr>
          <a:xfrm>
            <a:off x="5008980" y="2510730"/>
            <a:ext cx="3627069" cy="152400"/>
          </a:xfrm>
          <a:prstGeom prst="rect">
            <a:avLst/>
          </a:prstGeom>
          <a:noFill/>
          <a:ln/>
        </p:spPr>
        <p:txBody>
          <a:bodyPr wrap="square" lIns="0" tIns="0" rIns="0" bIns="0" rtlCol="0" anchor="t"/>
          <a:lstStyle/>
          <a:p>
            <a:pPr algn="r" indent="0" marL="0">
              <a:buNone/>
            </a:pPr>
            <a:r>
              <a:rPr lang="en-US" sz="1000" dirty="0">
                <a:solidFill>
                  <a:srgbClr val="8B8FA6"/>
                </a:solidFill>
                <a:latin typeface="Arial" pitchFamily="34" charset="0"/>
                <a:ea typeface="Arial" pitchFamily="34" charset="-122"/>
                <a:cs typeface="Arial" pitchFamily="34" charset="-120"/>
              </a:rPr>
              <a:t>MoRTH “Vahan” / Road Transport Yearbook</a:t>
            </a:r>
            <a:endParaRPr lang="en-US" sz="1000" dirty="0"/>
          </a:p>
        </p:txBody>
      </p:sp>
      <p:sp>
        <p:nvSpPr>
          <p:cNvPr id="17" name="Shape 14"/>
          <p:cNvSpPr/>
          <p:nvPr/>
        </p:nvSpPr>
        <p:spPr>
          <a:xfrm>
            <a:off x="507950" y="3096369"/>
            <a:ext cx="8128099" cy="0"/>
          </a:xfrm>
          <a:prstGeom prst="line">
            <a:avLst/>
          </a:prstGeom>
          <a:noFill/>
          <a:ln w="9525">
            <a:solidFill>
              <a:srgbClr val="211F30"/>
            </a:solidFill>
            <a:prstDash val="solid"/>
          </a:ln>
        </p:spPr>
      </p:sp>
      <p:sp>
        <p:nvSpPr>
          <p:cNvPr id="18" name="Text 15"/>
          <p:cNvSpPr/>
          <p:nvPr/>
        </p:nvSpPr>
        <p:spPr>
          <a:xfrm>
            <a:off x="507950" y="2850356"/>
            <a:ext cx="4274820" cy="152400"/>
          </a:xfrm>
          <a:prstGeom prst="rect">
            <a:avLst/>
          </a:prstGeom>
          <a:noFill/>
          <a:ln/>
        </p:spPr>
        <p:txBody>
          <a:bodyPr wrap="square" lIns="0" tIns="0" rIns="0" bIns="0" rtlCol="0" anchor="t"/>
          <a:lstStyle/>
          <a:p>
            <a:pPr algn="l" indent="0" marL="0">
              <a:buNone/>
            </a:pPr>
            <a:r>
              <a:rPr lang="en-US" sz="1050" dirty="0">
                <a:solidFill>
                  <a:srgbClr val="D3D4DE"/>
                </a:solidFill>
                <a:latin typeface="Arial" pitchFamily="34" charset="0"/>
                <a:ea typeface="Arial" pitchFamily="34" charset="-122"/>
                <a:cs typeface="Arial" pitchFamily="34" charset="-120"/>
              </a:rPr>
              <a:t>15–20 min wasted searching for parking</a:t>
            </a:r>
            <a:endParaRPr lang="en-US" sz="1050" dirty="0"/>
          </a:p>
        </p:txBody>
      </p:sp>
      <p:sp>
        <p:nvSpPr>
          <p:cNvPr id="19" name="Text 16"/>
          <p:cNvSpPr/>
          <p:nvPr/>
        </p:nvSpPr>
        <p:spPr>
          <a:xfrm>
            <a:off x="5008980" y="2850356"/>
            <a:ext cx="3627069" cy="152400"/>
          </a:xfrm>
          <a:prstGeom prst="rect">
            <a:avLst/>
          </a:prstGeom>
          <a:noFill/>
          <a:ln/>
        </p:spPr>
        <p:txBody>
          <a:bodyPr wrap="square" lIns="0" tIns="0" rIns="0" bIns="0" rtlCol="0" anchor="t"/>
          <a:lstStyle/>
          <a:p>
            <a:pPr algn="r" indent="0" marL="0">
              <a:buNone/>
            </a:pPr>
            <a:r>
              <a:rPr lang="en-US" sz="1000" dirty="0">
                <a:solidFill>
                  <a:srgbClr val="8B8FA6"/>
                </a:solidFill>
                <a:latin typeface="Arial" pitchFamily="34" charset="0"/>
                <a:ea typeface="Arial" pitchFamily="34" charset="-122"/>
                <a:cs typeface="Arial" pitchFamily="34" charset="-120"/>
              </a:rPr>
              <a:t>INRIX parking study / industry research</a:t>
            </a:r>
            <a:endParaRPr lang="en-US" sz="1000" dirty="0"/>
          </a:p>
        </p:txBody>
      </p:sp>
      <p:sp>
        <p:nvSpPr>
          <p:cNvPr id="20" name="Shape 17"/>
          <p:cNvSpPr/>
          <p:nvPr/>
        </p:nvSpPr>
        <p:spPr>
          <a:xfrm>
            <a:off x="507950" y="3435995"/>
            <a:ext cx="8128099" cy="0"/>
          </a:xfrm>
          <a:prstGeom prst="line">
            <a:avLst/>
          </a:prstGeom>
          <a:noFill/>
          <a:ln w="9525">
            <a:solidFill>
              <a:srgbClr val="211F30"/>
            </a:solidFill>
            <a:prstDash val="solid"/>
          </a:ln>
        </p:spPr>
      </p:sp>
      <p:sp>
        <p:nvSpPr>
          <p:cNvPr id="21" name="Text 18"/>
          <p:cNvSpPr/>
          <p:nvPr/>
        </p:nvSpPr>
        <p:spPr>
          <a:xfrm>
            <a:off x="507950" y="3189982"/>
            <a:ext cx="4274820" cy="152400"/>
          </a:xfrm>
          <a:prstGeom prst="rect">
            <a:avLst/>
          </a:prstGeom>
          <a:noFill/>
          <a:ln/>
        </p:spPr>
        <p:txBody>
          <a:bodyPr wrap="square" lIns="0" tIns="0" rIns="0" bIns="0" rtlCol="0" anchor="t"/>
          <a:lstStyle/>
          <a:p>
            <a:pPr algn="l" indent="0" marL="0">
              <a:buNone/>
            </a:pPr>
            <a:r>
              <a:rPr lang="en-US" sz="1050" dirty="0">
                <a:solidFill>
                  <a:srgbClr val="D3D4DE"/>
                </a:solidFill>
                <a:latin typeface="Arial" pitchFamily="34" charset="0"/>
                <a:ea typeface="Arial" pitchFamily="34" charset="-122"/>
                <a:cs typeface="Arial" pitchFamily="34" charset="-120"/>
              </a:rPr>
              <a:t>~30% of urban congestion from parking search</a:t>
            </a:r>
            <a:endParaRPr lang="en-US" sz="1050" dirty="0"/>
          </a:p>
        </p:txBody>
      </p:sp>
      <p:sp>
        <p:nvSpPr>
          <p:cNvPr id="22" name="Text 19"/>
          <p:cNvSpPr/>
          <p:nvPr/>
        </p:nvSpPr>
        <p:spPr>
          <a:xfrm>
            <a:off x="5008980" y="3189982"/>
            <a:ext cx="3627069" cy="152400"/>
          </a:xfrm>
          <a:prstGeom prst="rect">
            <a:avLst/>
          </a:prstGeom>
          <a:noFill/>
          <a:ln/>
        </p:spPr>
        <p:txBody>
          <a:bodyPr wrap="square" lIns="0" tIns="0" rIns="0" bIns="0" rtlCol="0" anchor="t"/>
          <a:lstStyle/>
          <a:p>
            <a:pPr algn="r" indent="0" marL="0">
              <a:buNone/>
            </a:pPr>
            <a:r>
              <a:rPr lang="en-US" sz="1000" dirty="0">
                <a:solidFill>
                  <a:srgbClr val="8B8FA6"/>
                </a:solidFill>
                <a:latin typeface="Arial" pitchFamily="34" charset="0"/>
                <a:ea typeface="Arial" pitchFamily="34" charset="-122"/>
                <a:cs typeface="Arial" pitchFamily="34" charset="-120"/>
              </a:rPr>
              <a:t>INRIX / academic research (e.g. D. Shoup)</a:t>
            </a:r>
            <a:endParaRPr lang="en-US" sz="1000" dirty="0"/>
          </a:p>
        </p:txBody>
      </p:sp>
      <p:sp>
        <p:nvSpPr>
          <p:cNvPr id="23" name="Shape 20"/>
          <p:cNvSpPr/>
          <p:nvPr/>
        </p:nvSpPr>
        <p:spPr>
          <a:xfrm>
            <a:off x="507950" y="3775621"/>
            <a:ext cx="8128099" cy="0"/>
          </a:xfrm>
          <a:prstGeom prst="line">
            <a:avLst/>
          </a:prstGeom>
          <a:noFill/>
          <a:ln w="9525">
            <a:solidFill>
              <a:srgbClr val="211F30"/>
            </a:solidFill>
            <a:prstDash val="solid"/>
          </a:ln>
        </p:spPr>
      </p:sp>
      <p:sp>
        <p:nvSpPr>
          <p:cNvPr id="24" name="Text 21"/>
          <p:cNvSpPr/>
          <p:nvPr/>
        </p:nvSpPr>
        <p:spPr>
          <a:xfrm>
            <a:off x="507950" y="3529608"/>
            <a:ext cx="4274820" cy="152400"/>
          </a:xfrm>
          <a:prstGeom prst="rect">
            <a:avLst/>
          </a:prstGeom>
          <a:noFill/>
          <a:ln/>
        </p:spPr>
        <p:txBody>
          <a:bodyPr wrap="square" lIns="0" tIns="0" rIns="0" bIns="0" rtlCol="0" anchor="t"/>
          <a:lstStyle/>
          <a:p>
            <a:pPr algn="l" indent="0" marL="0">
              <a:buNone/>
            </a:pPr>
            <a:r>
              <a:rPr lang="en-US" sz="1050" dirty="0">
                <a:solidFill>
                  <a:srgbClr val="D3D4DE"/>
                </a:solidFill>
                <a:latin typeface="Arial" pitchFamily="34" charset="0"/>
                <a:ea typeface="Arial" pitchFamily="34" charset="-122"/>
                <a:cs typeface="Arial" pitchFamily="34" charset="-120"/>
              </a:rPr>
              <a:t>Market size &amp; revenue mix</a:t>
            </a:r>
            <a:endParaRPr lang="en-US" sz="1050" dirty="0"/>
          </a:p>
        </p:txBody>
      </p:sp>
      <p:sp>
        <p:nvSpPr>
          <p:cNvPr id="25" name="Text 22"/>
          <p:cNvSpPr/>
          <p:nvPr/>
        </p:nvSpPr>
        <p:spPr>
          <a:xfrm>
            <a:off x="5008980" y="3529608"/>
            <a:ext cx="3627069" cy="152400"/>
          </a:xfrm>
          <a:prstGeom prst="rect">
            <a:avLst/>
          </a:prstGeom>
          <a:noFill/>
          <a:ln/>
        </p:spPr>
        <p:txBody>
          <a:bodyPr wrap="square" lIns="0" tIns="0" rIns="0" bIns="0" rtlCol="0" anchor="t"/>
          <a:lstStyle/>
          <a:p>
            <a:pPr algn="r" indent="0" marL="0">
              <a:buNone/>
            </a:pPr>
            <a:r>
              <a:rPr lang="en-US" sz="1000" dirty="0">
                <a:solidFill>
                  <a:srgbClr val="8B8FA6"/>
                </a:solidFill>
                <a:latin typeface="Arial" pitchFamily="34" charset="0"/>
                <a:ea typeface="Arial" pitchFamily="34" charset="-122"/>
                <a:cs typeface="Arial" pitchFamily="34" charset="-120"/>
              </a:rPr>
              <a:t>Illustrative — replace with a market report</a:t>
            </a:r>
            <a:endParaRPr lang="en-US" sz="1000" dirty="0"/>
          </a:p>
        </p:txBody>
      </p:sp>
      <p:sp>
        <p:nvSpPr>
          <p:cNvPr id="26" name="Text 23"/>
          <p:cNvSpPr/>
          <p:nvPr/>
        </p:nvSpPr>
        <p:spPr>
          <a:xfrm>
            <a:off x="507950" y="4648200"/>
            <a:ext cx="8290661" cy="114300"/>
          </a:xfrm>
          <a:prstGeom prst="rect">
            <a:avLst/>
          </a:prstGeom>
          <a:noFill/>
          <a:ln/>
        </p:spPr>
        <p:txBody>
          <a:bodyPr wrap="square" lIns="0" tIns="0" rIns="0" bIns="0" rtlCol="0" anchor="t"/>
          <a:lstStyle/>
          <a:p>
            <a:pPr algn="l" indent="0" marL="0">
              <a:spcBef>
                <a:spcPts val="6833"/>
              </a:spcBef>
              <a:buNone/>
            </a:pPr>
            <a:r>
              <a:rPr lang="en-US" sz="800" dirty="0">
                <a:solidFill>
                  <a:srgbClr val="5B5F73"/>
                </a:solidFill>
                <a:latin typeface="Arial" pitchFamily="34" charset="0"/>
                <a:ea typeface="Arial" pitchFamily="34" charset="-122"/>
                <a:cs typeface="Arial" pitchFamily="34" charset="-120"/>
              </a:rPr>
              <a:t>Figures are reported or illustrative and included for discussion. Confirm exact numbers and add primary citations (with year &amp; link) before any public or investor use.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ParkEase — Smart Parking Finder &amp; Booking Platform</dc:title>
  <dc:subject>PptxGenJS Presentation</dc:subject>
  <dc:creator>ParkEase</dc:creator>
  <cp:lastModifiedBy>ParkEase</cp:lastModifiedBy>
  <cp:revision>1</cp:revision>
  <dcterms:created xsi:type="dcterms:W3CDTF">2026-06-23T17:40:04Z</dcterms:created>
  <dcterms:modified xsi:type="dcterms:W3CDTF">2026-06-23T17:40:04Z</dcterms:modified>
</cp:coreProperties>
</file>