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E8E8F0"/>
                </a:solidFill>
                <a:latin typeface="Arial"/>
              </a:defRPr>
            </a:pPr>
            <a:r>
              <a:rPr sz="1100" b="0" i="0" u="none" strike="noStrike">
                <a:solidFill>
                  <a:srgbClr val="E8E8F0"/>
                </a:solidFill>
                <a:latin typeface="Arial"/>
              </a:rPr>
              <a:t>Driver-hours saved per day (at scale)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Driver-hours saved / day</c:v>
                </c:pt>
              </c:strCache>
            </c:strRef>
          </c:tx>
          <c:spPr>
            <a:solidFill>
              <a:srgbClr val="A855F7">
                <a:alpha val="100000"/>
              </a:srgbClr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0.1M users</c:v>
                  </c:pt>
                  <c:pt idx="1">
                    <c:v>0.5M users</c:v>
                  </c:pt>
                  <c:pt idx="2">
                    <c:v>1M users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56667</c:v>
                </c:pt>
                <c:pt idx="1">
                  <c:v>283333</c:v>
                </c:pt>
                <c:pt idx="2">
                  <c:v>566667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AB0C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000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AAB0C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50000"/>
      </c:valAx>
      <c:spPr>
        <a:solidFill>
          <a:srgbClr val="15131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E8E8F0"/>
                </a:solidFill>
                <a:latin typeface="Arial"/>
              </a:defRPr>
            </a:pPr>
            <a:r>
              <a:rPr sz="1000" b="0" i="0" u="none" strike="noStrike">
                <a:solidFill>
                  <a:srgbClr val="E8E8F0"/>
                </a:solidFill>
                <a:latin typeface="Arial"/>
              </a:rPr>
              <a:t>Market size index (2024 = 100, ~16% CAGR, illustrative)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India smart-parking market (illustrative)</c:v>
                </c:pt>
              </c:strCache>
            </c:strRef>
          </c:tx>
          <c:spPr>
            <a:solidFill>
              <a:srgbClr val="D946EF"/>
            </a:solidFill>
            <a:ln w="38100" cap="flat">
              <a:solidFill>
                <a:srgbClr val="D946E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D946EF"/>
              </a:solidFill>
              <a:ln w="9525" cap="flat">
                <a:solidFill>
                  <a:srgbClr val="D946E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</c:v>
                  </c:pt>
                  <c:pt idx="3">
                    <c:v>2027</c:v>
                  </c:pt>
                  <c:pt idx="4">
                    <c:v>2028</c:v>
                  </c:pt>
                  <c:pt idx="5">
                    <c:v>2029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117</c:v>
                </c:pt>
                <c:pt idx="2">
                  <c:v>137</c:v>
                </c:pt>
                <c:pt idx="3">
                  <c:v>160</c:v>
                </c:pt>
                <c:pt idx="4">
                  <c:v>187</c:v>
                </c:pt>
                <c:pt idx="5">
                  <c:v>219</c:v>
                </c:pt>
                <c:pt idx="6">
                  <c:v>256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AB0C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AAB0C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E8E8F0"/>
                </a:solidFill>
                <a:latin typeface="Arial"/>
              </a:defRPr>
            </a:pPr>
            <a:r>
              <a:rPr sz="1100" b="0" i="0" u="none" strike="noStrike">
                <a:solidFill>
                  <a:srgbClr val="E8E8F0"/>
                </a:solidFill>
                <a:latin typeface="Arial"/>
              </a:rPr>
              <a:t>Illustrative revenue mix</a:t>
            </a:r>
          </a:p>
        </c:rich>
      </c:tx>
      <c:layout/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 mix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A855F7"/>
              </a:solidFill>
              <a:effectLst/>
            </c:spPr>
          </c:dPt>
          <c:dPt>
            <c:idx val="1"/>
            <c:bubble3D val="0"/>
            <c:spPr>
              <a:solidFill>
                <a:srgbClr val="D946EF"/>
              </a:solidFill>
              <a:effectLst/>
            </c:spPr>
          </c:dPt>
          <c:dPt>
            <c:idx val="2"/>
            <c:bubble3D val="0"/>
            <c:spPr>
              <a:solidFill>
                <a:srgbClr val="7C3AED"/>
              </a:solidFill>
              <a:effectLst/>
            </c:spPr>
          </c:dPt>
          <c:dPt>
            <c:idx val="3"/>
            <c:bubble3D val="0"/>
            <c:spPr>
              <a:solidFill>
                <a:srgbClr val="8B5CF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Booking commission</c:v>
                </c:pt>
                <c:pt idx="1">
                  <c:v>Owner subscriptions</c:v>
                </c:pt>
                <c:pt idx="2">
                  <c:v>Dynamic pricing</c:v>
                </c:pt>
                <c:pt idx="3">
                  <c:v>Ads &amp; partnerships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55</c:v>
                </c:pt>
                <c:pt idx="1">
                  <c:v>25</c:v>
                </c:pt>
                <c:pt idx="2">
                  <c:v>12</c:v>
                </c:pt>
                <c:pt idx="3">
                  <c:v>8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CFD0D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1162348"/>
            <a:ext cx="82906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PARKING · RESERVED IN ADVANCE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7950" y="1492448"/>
            <a:ext cx="829066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buNone/>
            </a:pPr>
            <a:r>
              <a:rPr lang="en-US" sz="6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</a:t>
            </a:r>
            <a:pPr algn="l" indent="0" marL="0">
              <a:spcBef>
                <a:spcPts val="1400"/>
              </a:spcBef>
              <a:buNone/>
            </a:pPr>
            <a:r>
              <a:rPr lang="en-US" sz="62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Ease</a:t>
            </a:r>
            <a:endParaRPr lang="en-US" sz="6200" dirty="0"/>
          </a:p>
        </p:txBody>
      </p:sp>
      <p:pic>
        <p:nvPicPr>
          <p:cNvPr id="4" name="Image 0" descr="/Users/yashwantyadav/Desktop/Parking_assist/deck-build/assets/grad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950" y="2584549"/>
            <a:ext cx="1905000" cy="76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7950" y="2889349"/>
            <a:ext cx="6995160" cy="60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spcBef>
                <a:spcPts val="1800"/>
              </a:spcBef>
              <a:buNone/>
            </a:pPr>
            <a:r>
              <a:rPr lang="en-US" sz="1600" dirty="0">
                <a:solidFill>
                  <a:srgbClr val="C6C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Find, compare and book a guaranteed parking spot near you — ending the daily hunt for parking in India’s cities.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07950" y="3828752"/>
            <a:ext cx="82906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600"/>
              </a:spcBef>
              <a:buNone/>
            </a:pPr>
            <a:r>
              <a:rPr lang="en-US" sz="1100" dirty="0">
                <a:solidFill>
                  <a:srgbClr val="6B70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 Deck · 2026  |  MERN Web Platform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81000"/>
            <a:ext cx="82906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7950" y="634901"/>
            <a:ext cx="829066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is running out of places to park.</a:t>
            </a:r>
            <a:endParaRPr lang="en-US" sz="2700" dirty="0"/>
          </a:p>
        </p:txBody>
      </p:sp>
      <p:pic>
        <p:nvPicPr>
          <p:cNvPr id="4" name="Image 0" descr="/Users/yashwantyadav/Desktop/Parking_assist/deck-build/assets/grad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950" y="1161901"/>
            <a:ext cx="1143000" cy="6340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7950" y="1314152"/>
            <a:ext cx="7772400" cy="4604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3"/>
              </a:lnSpc>
              <a:spcBef>
                <a:spcPts val="700"/>
              </a:spcBef>
              <a:buNone/>
            </a:pPr>
            <a:r>
              <a:rPr lang="en-US" sz="1250" dirty="0">
                <a:solidFill>
                  <a:srgbClr val="9A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 ownership is exploding, but parking infrastructure and information haven’t kept up. Drivers circle endlessly, park illegally out of desperation, and pay the price — in time, fuel, fines, and frustration.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507950" y="2028527"/>
            <a:ext cx="2489150" cy="1262955"/>
          </a:xfrm>
          <a:prstGeom prst="roundRect">
            <a:avLst>
              <a:gd name="adj" fmla="val 9050"/>
            </a:avLst>
          </a:prstGeom>
          <a:solidFill>
            <a:srgbClr val="15131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4"/>
          <p:cNvSpPr/>
          <p:nvPr/>
        </p:nvSpPr>
        <p:spPr>
          <a:xfrm>
            <a:off x="531763" y="2028527"/>
            <a:ext cx="0" cy="1262955"/>
          </a:xfrm>
          <a:prstGeom prst="line">
            <a:avLst/>
          </a:prstGeom>
          <a:noFill/>
          <a:ln w="47625">
            <a:solidFill>
              <a:srgbClr val="A855F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6075" y="2219027"/>
            <a:ext cx="210173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79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350M+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46075" y="2723852"/>
            <a:ext cx="2101736" cy="37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spcBef>
                <a:spcPts val="600"/>
              </a:spcBef>
              <a:buNone/>
            </a:pPr>
            <a:r>
              <a:rPr lang="en-US" sz="1100" dirty="0">
                <a:solidFill>
                  <a:srgbClr val="AAB0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registered vehicles in India — and rising fast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136702" y="2028527"/>
            <a:ext cx="2489150" cy="1262955"/>
          </a:xfrm>
          <a:prstGeom prst="roundRect">
            <a:avLst>
              <a:gd name="adj" fmla="val 9050"/>
            </a:avLst>
          </a:prstGeom>
          <a:solidFill>
            <a:srgbClr val="15131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3160514" y="2028527"/>
            <a:ext cx="0" cy="1262955"/>
          </a:xfrm>
          <a:prstGeom prst="line">
            <a:avLst/>
          </a:prstGeom>
          <a:noFill/>
          <a:ln w="47625">
            <a:solidFill>
              <a:srgbClr val="A855F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374827" y="2219027"/>
            <a:ext cx="210173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79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15–20 min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3374827" y="2723852"/>
            <a:ext cx="2101736" cy="37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spcBef>
                <a:spcPts val="600"/>
              </a:spcBef>
              <a:buNone/>
            </a:pPr>
            <a:r>
              <a:rPr lang="en-US" sz="1100" dirty="0">
                <a:solidFill>
                  <a:srgbClr val="AAB0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time wasted searching for a spot per trip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765453" y="2028527"/>
            <a:ext cx="2489150" cy="1262955"/>
          </a:xfrm>
          <a:prstGeom prst="roundRect">
            <a:avLst>
              <a:gd name="adj" fmla="val 9050"/>
            </a:avLst>
          </a:prstGeom>
          <a:solidFill>
            <a:srgbClr val="15131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2"/>
          <p:cNvSpPr/>
          <p:nvPr/>
        </p:nvSpPr>
        <p:spPr>
          <a:xfrm>
            <a:off x="5789265" y="2028527"/>
            <a:ext cx="0" cy="1262955"/>
          </a:xfrm>
          <a:prstGeom prst="line">
            <a:avLst/>
          </a:prstGeom>
          <a:noFill/>
          <a:ln w="47625">
            <a:solidFill>
              <a:srgbClr val="A855F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03578" y="2219027"/>
            <a:ext cx="210173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79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6003578" y="2723852"/>
            <a:ext cx="2101736" cy="37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spcBef>
                <a:spcPts val="600"/>
              </a:spcBef>
              <a:buNone/>
            </a:pPr>
            <a:r>
              <a:rPr lang="en-US" sz="1100" dirty="0">
                <a:solidFill>
                  <a:srgbClr val="AAB0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improper parking is among the most common traffic violations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07950" y="4648200"/>
            <a:ext cx="82906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683"/>
              </a:spcBef>
              <a:buNone/>
            </a:pPr>
            <a:r>
              <a:rPr lang="en-US" sz="800" dirty="0">
                <a:solidFill>
                  <a:srgbClr val="5B5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Figures are from publicly reported sources; verify and cite live sources before publishing.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81000"/>
            <a:ext cx="82906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7950" y="634901"/>
            <a:ext cx="829066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Improper parking, by the figures.</a:t>
            </a:r>
            <a:endParaRPr lang="en-US" sz="2700" dirty="0"/>
          </a:p>
        </p:txBody>
      </p:sp>
      <p:pic>
        <p:nvPicPr>
          <p:cNvPr id="4" name="Image 0" descr="/Users/yashwantyadav/Desktop/Parking_assist/deck-build/assets/grad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950" y="1161901"/>
            <a:ext cx="1143000" cy="6340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7950" y="1504652"/>
            <a:ext cx="2489150" cy="1262955"/>
          </a:xfrm>
          <a:prstGeom prst="roundRect">
            <a:avLst>
              <a:gd name="adj" fmla="val 9050"/>
            </a:avLst>
          </a:prstGeom>
          <a:solidFill>
            <a:srgbClr val="15131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3"/>
          <p:cNvSpPr/>
          <p:nvPr/>
        </p:nvSpPr>
        <p:spPr>
          <a:xfrm>
            <a:off x="531763" y="1504652"/>
            <a:ext cx="0" cy="1262955"/>
          </a:xfrm>
          <a:prstGeom prst="line">
            <a:avLst/>
          </a:prstGeom>
          <a:noFill/>
          <a:ln w="47625">
            <a:solidFill>
              <a:srgbClr val="A855F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6075" y="1695152"/>
            <a:ext cx="210173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79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Cr+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746075" y="2199977"/>
            <a:ext cx="2101736" cy="37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spcBef>
                <a:spcPts val="600"/>
              </a:spcBef>
              <a:buNone/>
            </a:pPr>
            <a:r>
              <a:rPr lang="en-US" sz="1100" dirty="0">
                <a:solidFill>
                  <a:srgbClr val="AAB0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 challans issued across India every year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136702" y="1504652"/>
            <a:ext cx="2489150" cy="1262955"/>
          </a:xfrm>
          <a:prstGeom prst="roundRect">
            <a:avLst>
              <a:gd name="adj" fmla="val 9050"/>
            </a:avLst>
          </a:prstGeom>
          <a:solidFill>
            <a:srgbClr val="15131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7"/>
          <p:cNvSpPr/>
          <p:nvPr/>
        </p:nvSpPr>
        <p:spPr>
          <a:xfrm>
            <a:off x="3160514" y="1504652"/>
            <a:ext cx="0" cy="1262955"/>
          </a:xfrm>
          <a:prstGeom prst="line">
            <a:avLst/>
          </a:prstGeom>
          <a:noFill/>
          <a:ln w="47625">
            <a:solidFill>
              <a:srgbClr val="A855F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374827" y="1695152"/>
            <a:ext cx="210173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79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 lakh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3374827" y="2199977"/>
            <a:ext cx="2101736" cy="37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spcBef>
                <a:spcPts val="600"/>
              </a:spcBef>
              <a:buNone/>
            </a:pPr>
            <a:r>
              <a:rPr lang="en-US" sz="1100" dirty="0">
                <a:solidFill>
                  <a:srgbClr val="AAB0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illegal-parking challans in Noida in a single year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765453" y="1504652"/>
            <a:ext cx="2489150" cy="1262955"/>
          </a:xfrm>
          <a:prstGeom prst="roundRect">
            <a:avLst>
              <a:gd name="adj" fmla="val 9050"/>
            </a:avLst>
          </a:prstGeom>
          <a:solidFill>
            <a:srgbClr val="15131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1"/>
          <p:cNvSpPr/>
          <p:nvPr/>
        </p:nvSpPr>
        <p:spPr>
          <a:xfrm>
            <a:off x="5789265" y="1504652"/>
            <a:ext cx="0" cy="1262955"/>
          </a:xfrm>
          <a:prstGeom prst="line">
            <a:avLst/>
          </a:prstGeom>
          <a:noFill/>
          <a:ln w="47625">
            <a:solidFill>
              <a:srgbClr val="A855F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003578" y="1695152"/>
            <a:ext cx="210173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79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~65,000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6003578" y="2199977"/>
            <a:ext cx="2101736" cy="37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spcBef>
                <a:spcPts val="600"/>
              </a:spcBef>
              <a:buNone/>
            </a:pPr>
            <a:r>
              <a:rPr lang="en-US" sz="1100" dirty="0">
                <a:solidFill>
                  <a:srgbClr val="AAB0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illegal-parking challans issued in Delhi every month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07950" y="3021509"/>
            <a:ext cx="7901889" cy="4604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3"/>
              </a:lnSpc>
              <a:spcBef>
                <a:spcPts val="2000"/>
              </a:spcBef>
              <a:buNone/>
            </a:pPr>
            <a:r>
              <a:rPr lang="en-US" sz="1250" dirty="0">
                <a:solidFill>
                  <a:srgbClr val="9A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That’s roughly </a:t>
            </a:r>
            <a:pPr algn="l" indent="0" marL="0">
              <a:lnSpc>
                <a:spcPts val="1813"/>
              </a:lnSpc>
              <a:spcBef>
                <a:spcPts val="2000"/>
              </a:spcBef>
              <a:buNone/>
            </a:pPr>
            <a:r>
              <a:rPr lang="en-US" sz="1250" b="1" dirty="0">
                <a:solidFill>
                  <a:srgbClr val="E879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 lakh</a:t>
            </a:r>
            <a:pPr algn="l" indent="0" marL="0">
              <a:lnSpc>
                <a:spcPts val="1813"/>
              </a:lnSpc>
              <a:spcBef>
                <a:spcPts val="2000"/>
              </a:spcBef>
              <a:buNone/>
            </a:pPr>
            <a:r>
              <a:rPr lang="en-US" sz="1250" dirty="0">
                <a:solidFill>
                  <a:srgbClr val="9A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parking challans a year in Delhi alone. Behind every fine is a driver who simply couldn’t find a legal place to park.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507950" y="4648200"/>
            <a:ext cx="82906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183"/>
              </a:spcBef>
              <a:buNone/>
            </a:pPr>
            <a:r>
              <a:rPr lang="en-US" sz="800" dirty="0">
                <a:solidFill>
                  <a:srgbClr val="5B5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Reported figures (Noida Traffic Police / Delhi Traffic Police, press reports). Confirm exact numbers and citations before public use.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81000"/>
            <a:ext cx="82906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HIDDEN COST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7950" y="634901"/>
            <a:ext cx="829066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wasted minute adds up.</a:t>
            </a:r>
            <a:endParaRPr lang="en-US" sz="2700" dirty="0"/>
          </a:p>
        </p:txBody>
      </p:sp>
      <p:pic>
        <p:nvPicPr>
          <p:cNvPr id="4" name="Image 0" descr="/Users/yashwantyadav/Desktop/Parking_assist/deck-build/assets/grad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950" y="1161901"/>
            <a:ext cx="1143000" cy="6340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7950" y="1504652"/>
            <a:ext cx="2489150" cy="1691580"/>
          </a:xfrm>
          <a:prstGeom prst="roundRect">
            <a:avLst>
              <a:gd name="adj" fmla="val 6757"/>
            </a:avLst>
          </a:prstGeom>
          <a:solidFill>
            <a:srgbClr val="15131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3"/>
          <p:cNvSpPr/>
          <p:nvPr/>
        </p:nvSpPr>
        <p:spPr>
          <a:xfrm>
            <a:off x="531763" y="1504652"/>
            <a:ext cx="0" cy="1691580"/>
          </a:xfrm>
          <a:prstGeom prst="line">
            <a:avLst/>
          </a:prstGeom>
          <a:noFill/>
          <a:ln w="47625">
            <a:solidFill>
              <a:srgbClr val="A855F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6075" y="1695152"/>
            <a:ext cx="210173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79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746075" y="2199977"/>
            <a:ext cx="2101736" cy="56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spcBef>
                <a:spcPts val="600"/>
              </a:spcBef>
              <a:buNone/>
            </a:pPr>
            <a:r>
              <a:rPr lang="en-US" sz="1100" dirty="0">
                <a:solidFill>
                  <a:srgbClr val="AAB0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urban traffic congestion is linked to drivers hunting for parking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136702" y="1504652"/>
            <a:ext cx="2489150" cy="1691580"/>
          </a:xfrm>
          <a:prstGeom prst="roundRect">
            <a:avLst>
              <a:gd name="adj" fmla="val 6757"/>
            </a:avLst>
          </a:prstGeom>
          <a:solidFill>
            <a:srgbClr val="15131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7"/>
          <p:cNvSpPr/>
          <p:nvPr/>
        </p:nvSpPr>
        <p:spPr>
          <a:xfrm>
            <a:off x="3160514" y="1504652"/>
            <a:ext cx="0" cy="1691580"/>
          </a:xfrm>
          <a:prstGeom prst="line">
            <a:avLst/>
          </a:prstGeom>
          <a:noFill/>
          <a:ln w="47625">
            <a:solidFill>
              <a:srgbClr val="A855F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374827" y="1695152"/>
            <a:ext cx="2101736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79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Wasted fuel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3374827" y="2628602"/>
            <a:ext cx="2101736" cy="37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spcBef>
                <a:spcPts val="600"/>
              </a:spcBef>
              <a:buNone/>
            </a:pPr>
            <a:r>
              <a:rPr lang="en-US" sz="1100" dirty="0">
                <a:solidFill>
                  <a:srgbClr val="AAB0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circling burns fuel and money on every single trip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765453" y="1504652"/>
            <a:ext cx="2489150" cy="1691580"/>
          </a:xfrm>
          <a:prstGeom prst="roundRect">
            <a:avLst>
              <a:gd name="adj" fmla="val 6757"/>
            </a:avLst>
          </a:prstGeom>
          <a:solidFill>
            <a:srgbClr val="15131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1"/>
          <p:cNvSpPr/>
          <p:nvPr/>
        </p:nvSpPr>
        <p:spPr>
          <a:xfrm>
            <a:off x="5789265" y="1504652"/>
            <a:ext cx="0" cy="1691580"/>
          </a:xfrm>
          <a:prstGeom prst="line">
            <a:avLst/>
          </a:prstGeom>
          <a:noFill/>
          <a:ln w="47625">
            <a:solidFill>
              <a:srgbClr val="A855F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003578" y="1695152"/>
            <a:ext cx="2101736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79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CO₂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6003578" y="2209502"/>
            <a:ext cx="2101736" cy="37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spcBef>
                <a:spcPts val="600"/>
              </a:spcBef>
              <a:buNone/>
            </a:pPr>
            <a:r>
              <a:rPr lang="en-US" sz="1100" dirty="0">
                <a:solidFill>
                  <a:srgbClr val="AAB0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needless idling and driving raises emissions in dense cities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07950" y="3450134"/>
            <a:ext cx="7901889" cy="4604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3"/>
              </a:lnSpc>
              <a:spcBef>
                <a:spcPts val="2000"/>
              </a:spcBef>
              <a:buNone/>
            </a:pPr>
            <a:r>
              <a:rPr lang="en-US" sz="1250" dirty="0">
                <a:solidFill>
                  <a:srgbClr val="9A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isn’t just the fine. It’s lost time, fuel, pollution, road rage and clogged streets — a tax paid by every driver, every day.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507950" y="4648200"/>
            <a:ext cx="82906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808"/>
              </a:spcBef>
              <a:buNone/>
            </a:pPr>
            <a:r>
              <a:rPr lang="en-US" sz="800" dirty="0">
                <a:solidFill>
                  <a:srgbClr val="5B5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Congestion share attributable to parking search is an industry-cited estimate; verify before publishing.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81000"/>
            <a:ext cx="82906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7950" y="634901"/>
            <a:ext cx="829066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ParkEase — a guaranteed spot, before you arrive.</a:t>
            </a:r>
            <a:endParaRPr lang="en-US" sz="2700" dirty="0"/>
          </a:p>
        </p:txBody>
      </p:sp>
      <p:pic>
        <p:nvPicPr>
          <p:cNvPr id="4" name="Image 0" descr="/Users/yashwantyadav/Desktop/Parking_assist/deck-build/assets/grad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950" y="1161901"/>
            <a:ext cx="1143000" cy="6340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7950" y="1314152"/>
            <a:ext cx="8031379" cy="4604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3"/>
              </a:lnSpc>
              <a:spcBef>
                <a:spcPts val="700"/>
              </a:spcBef>
              <a:buNone/>
            </a:pPr>
            <a:r>
              <a:rPr lang="en-US" sz="1250" dirty="0">
                <a:solidFill>
                  <a:srgbClr val="9A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web platform that aggregates commercial lots, street parking and private spaces onto one live map — so drivers reserve and pay in advance, and owners earn from space they already have.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507950" y="2028527"/>
            <a:ext cx="3810000" cy="1545878"/>
          </a:xfrm>
          <a:prstGeom prst="roundRect">
            <a:avLst>
              <a:gd name="adj" fmla="val 9037"/>
            </a:avLst>
          </a:prstGeom>
          <a:solidFill>
            <a:srgbClr val="15131F"/>
          </a:solidFill>
          <a:ln w="9525">
            <a:solidFill>
              <a:srgbClr val="2A274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720626" y="2241203"/>
            <a:ext cx="345234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Drivers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20626" y="2552254"/>
            <a:ext cx="3384649" cy="809476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2125"/>
              </a:lnSpc>
              <a:buSzPct val="100000"/>
              <a:buChar char="•"/>
            </a:pPr>
            <a:r>
              <a:rPr lang="en-US" sz="1250" dirty="0">
                <a:solidFill>
                  <a:srgbClr val="CFD0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real-time availability on a map</a:t>
            </a:r>
            <a:endParaRPr lang="en-US" sz="1250" dirty="0"/>
          </a:p>
          <a:p>
            <a:pPr algn="l" marL="88900" indent="-88900">
              <a:lnSpc>
                <a:spcPts val="2125"/>
              </a:lnSpc>
              <a:buSzPct val="100000"/>
              <a:buChar char="•"/>
            </a:pPr>
            <a:r>
              <a:rPr lang="en-US" sz="1250" dirty="0">
                <a:solidFill>
                  <a:srgbClr val="CFD0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 &amp; pay — spot held before arrival</a:t>
            </a:r>
            <a:endParaRPr lang="en-US" sz="1250" dirty="0"/>
          </a:p>
          <a:p>
            <a:pPr algn="l" marL="88900" indent="-88900">
              <a:lnSpc>
                <a:spcPts val="2125"/>
              </a:lnSpc>
              <a:buSzPct val="100000"/>
              <a:buChar char="•"/>
            </a:pPr>
            <a:r>
              <a:rPr lang="en-US" sz="1250" dirty="0">
                <a:solidFill>
                  <a:srgbClr val="CFD0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QR-pass entry, receipts, reviews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495651" y="2028527"/>
            <a:ext cx="3810000" cy="1545878"/>
          </a:xfrm>
          <a:prstGeom prst="roundRect">
            <a:avLst>
              <a:gd name="adj" fmla="val 9037"/>
            </a:avLst>
          </a:prstGeom>
          <a:solidFill>
            <a:srgbClr val="15131F"/>
          </a:solidFill>
          <a:ln w="9525">
            <a:solidFill>
              <a:srgbClr val="2A274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4708327" y="2241203"/>
            <a:ext cx="345234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Owners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708327" y="2552254"/>
            <a:ext cx="3384649" cy="809476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2125"/>
              </a:lnSpc>
              <a:buSzPct val="100000"/>
              <a:buChar char="•"/>
            </a:pPr>
            <a:r>
              <a:rPr lang="en-US" sz="1250" dirty="0">
                <a:solidFill>
                  <a:srgbClr val="CFD0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a lot or driveway in minutes</a:t>
            </a:r>
            <a:endParaRPr lang="en-US" sz="1250" dirty="0"/>
          </a:p>
          <a:p>
            <a:pPr algn="l" marL="88900" indent="-88900">
              <a:lnSpc>
                <a:spcPts val="2125"/>
              </a:lnSpc>
              <a:buSzPct val="100000"/>
              <a:buChar char="•"/>
            </a:pPr>
            <a:r>
              <a:rPr lang="en-US" sz="1250" dirty="0">
                <a:solidFill>
                  <a:srgbClr val="CFD0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pricing, manage availability</a:t>
            </a:r>
            <a:endParaRPr lang="en-US" sz="1250" dirty="0"/>
          </a:p>
          <a:p>
            <a:pPr algn="l" marL="88900" indent="-88900">
              <a:lnSpc>
                <a:spcPts val="2125"/>
              </a:lnSpc>
              <a:buSzPct val="100000"/>
              <a:buChar char="•"/>
            </a:pPr>
            <a:r>
              <a:rPr lang="en-US" sz="1250" dirty="0">
                <a:solidFill>
                  <a:srgbClr val="CFD0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bookings &amp; revenue live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81000"/>
            <a:ext cx="82906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7950" y="634901"/>
            <a:ext cx="829066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hunting to parked — in four steps.</a:t>
            </a:r>
            <a:endParaRPr lang="en-US" sz="2700" dirty="0"/>
          </a:p>
        </p:txBody>
      </p:sp>
      <p:pic>
        <p:nvPicPr>
          <p:cNvPr id="4" name="Image 0" descr="/Users/yashwantyadav/Desktop/Parking_assist/deck-build/assets/grad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950" y="1161901"/>
            <a:ext cx="1143000" cy="6340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7950" y="1530102"/>
            <a:ext cx="1879550" cy="1451521"/>
          </a:xfrm>
          <a:prstGeom prst="roundRect">
            <a:avLst>
              <a:gd name="adj" fmla="val 7874"/>
            </a:avLst>
          </a:prstGeom>
          <a:solidFill>
            <a:srgbClr val="15131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3"/>
          <p:cNvSpPr/>
          <p:nvPr/>
        </p:nvSpPr>
        <p:spPr>
          <a:xfrm>
            <a:off x="531763" y="1530102"/>
            <a:ext cx="0" cy="1451521"/>
          </a:xfrm>
          <a:prstGeom prst="line">
            <a:avLst/>
          </a:prstGeom>
          <a:noFill/>
          <a:ln w="47625">
            <a:solidFill>
              <a:srgbClr val="A855F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6075" y="1720602"/>
            <a:ext cx="147994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79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746075" y="2225427"/>
            <a:ext cx="1479944" cy="56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spcBef>
                <a:spcPts val="600"/>
              </a:spcBef>
              <a:buNone/>
            </a:pPr>
            <a:r>
              <a:rPr lang="en-US" sz="1100" dirty="0">
                <a:solidFill>
                  <a:srgbClr val="AAB0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— open the live map &amp; filter by price, type, EV &amp; amenities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527102" y="1530102"/>
            <a:ext cx="1879550" cy="1451521"/>
          </a:xfrm>
          <a:prstGeom prst="roundRect">
            <a:avLst>
              <a:gd name="adj" fmla="val 7874"/>
            </a:avLst>
          </a:prstGeom>
          <a:solidFill>
            <a:srgbClr val="15131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7"/>
          <p:cNvSpPr/>
          <p:nvPr/>
        </p:nvSpPr>
        <p:spPr>
          <a:xfrm>
            <a:off x="2550914" y="1530102"/>
            <a:ext cx="0" cy="1451521"/>
          </a:xfrm>
          <a:prstGeom prst="line">
            <a:avLst/>
          </a:prstGeom>
          <a:noFill/>
          <a:ln w="47625">
            <a:solidFill>
              <a:srgbClr val="A855F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765227" y="1720602"/>
            <a:ext cx="147994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79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2765227" y="2225427"/>
            <a:ext cx="1479944" cy="56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spcBef>
                <a:spcPts val="600"/>
              </a:spcBef>
              <a:buNone/>
            </a:pPr>
            <a:r>
              <a:rPr lang="en-US" sz="1100" dirty="0">
                <a:solidFill>
                  <a:srgbClr val="AAB0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 — pick your time &amp; vehicle; the spot is held for you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46253" y="1530102"/>
            <a:ext cx="1879550" cy="1451521"/>
          </a:xfrm>
          <a:prstGeom prst="roundRect">
            <a:avLst>
              <a:gd name="adj" fmla="val 7874"/>
            </a:avLst>
          </a:prstGeom>
          <a:solidFill>
            <a:srgbClr val="15131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1"/>
          <p:cNvSpPr/>
          <p:nvPr/>
        </p:nvSpPr>
        <p:spPr>
          <a:xfrm>
            <a:off x="4570065" y="1530102"/>
            <a:ext cx="0" cy="1451521"/>
          </a:xfrm>
          <a:prstGeom prst="line">
            <a:avLst/>
          </a:prstGeom>
          <a:noFill/>
          <a:ln w="47625">
            <a:solidFill>
              <a:srgbClr val="A855F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784378" y="1720602"/>
            <a:ext cx="147994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79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4784378" y="2225427"/>
            <a:ext cx="1479944" cy="56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spcBef>
                <a:spcPts val="600"/>
              </a:spcBef>
              <a:buNone/>
            </a:pPr>
            <a:r>
              <a:rPr lang="en-US" sz="1100" dirty="0">
                <a:solidFill>
                  <a:srgbClr val="AAB0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— securely via Razorpay (UPI, cards, wallets)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565404" y="1530102"/>
            <a:ext cx="1879550" cy="1451521"/>
          </a:xfrm>
          <a:prstGeom prst="roundRect">
            <a:avLst>
              <a:gd name="adj" fmla="val 7874"/>
            </a:avLst>
          </a:prstGeom>
          <a:solidFill>
            <a:srgbClr val="15131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5"/>
          <p:cNvSpPr/>
          <p:nvPr/>
        </p:nvSpPr>
        <p:spPr>
          <a:xfrm>
            <a:off x="6589216" y="1530102"/>
            <a:ext cx="0" cy="1451521"/>
          </a:xfrm>
          <a:prstGeom prst="line">
            <a:avLst/>
          </a:prstGeom>
          <a:noFill/>
          <a:ln w="47625">
            <a:solidFill>
              <a:srgbClr val="A855F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803529" y="1720602"/>
            <a:ext cx="147994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79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6803529" y="2225427"/>
            <a:ext cx="1479944" cy="37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spcBef>
                <a:spcPts val="600"/>
              </a:spcBef>
              <a:buNone/>
            </a:pPr>
            <a:r>
              <a:rPr lang="en-US" sz="1100" dirty="0">
                <a:solidFill>
                  <a:srgbClr val="AAB0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 — arrive, scan your QR pass, done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07950" y="3260973"/>
            <a:ext cx="7772400" cy="230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3"/>
              </a:lnSpc>
              <a:spcBef>
                <a:spcPts val="2200"/>
              </a:spcBef>
              <a:buNone/>
            </a:pPr>
            <a:r>
              <a:rPr lang="en-US" sz="1250" dirty="0">
                <a:solidFill>
                  <a:srgbClr val="9A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availability updates instantly over WebSockets, so what you see is what’s actually free.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81000"/>
            <a:ext cx="82906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7950" y="634901"/>
            <a:ext cx="829066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like a real platform, not a demo.</a:t>
            </a:r>
            <a:endParaRPr lang="en-US" sz="2700" dirty="0"/>
          </a:p>
        </p:txBody>
      </p:sp>
      <p:pic>
        <p:nvPicPr>
          <p:cNvPr id="4" name="Image 0" descr="/Users/yashwantyadav/Desktop/Parking_assist/deck-build/assets/grad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950" y="1161901"/>
            <a:ext cx="1143000" cy="6340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7950" y="1428452"/>
            <a:ext cx="2489150" cy="967978"/>
          </a:xfrm>
          <a:prstGeom prst="roundRect">
            <a:avLst>
              <a:gd name="adj" fmla="val 13120"/>
            </a:avLst>
          </a:prstGeom>
          <a:solidFill>
            <a:srgbClr val="141320"/>
          </a:solidFill>
          <a:ln w="9525">
            <a:solidFill>
              <a:srgbClr val="2624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682526" y="1603028"/>
            <a:ext cx="21828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map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82526" y="1866454"/>
            <a:ext cx="2182800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Bef>
                <a:spcPts val="500"/>
              </a:spcBef>
              <a:buNone/>
            </a:pPr>
            <a:r>
              <a:rPr lang="en-US" sz="1000" dirty="0">
                <a:solidFill>
                  <a:srgbClr val="9A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availability with color-coded pins over WebSockets.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111401" y="1428452"/>
            <a:ext cx="2489150" cy="967978"/>
          </a:xfrm>
          <a:prstGeom prst="roundRect">
            <a:avLst>
              <a:gd name="adj" fmla="val 13120"/>
            </a:avLst>
          </a:prstGeom>
          <a:solidFill>
            <a:srgbClr val="141320"/>
          </a:solidFill>
          <a:ln w="9525">
            <a:solidFill>
              <a:srgbClr val="2624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3285976" y="1603028"/>
            <a:ext cx="21828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Guaranteed booking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285976" y="1866454"/>
            <a:ext cx="2182800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Bef>
                <a:spcPts val="500"/>
              </a:spcBef>
              <a:buNone/>
            </a:pPr>
            <a:r>
              <a:rPr lang="en-US" sz="1000" dirty="0">
                <a:solidFill>
                  <a:srgbClr val="9A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 ahead with a scannable QR pass &amp; PDF receipt.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714851" y="1428452"/>
            <a:ext cx="2489150" cy="967978"/>
          </a:xfrm>
          <a:prstGeom prst="roundRect">
            <a:avLst>
              <a:gd name="adj" fmla="val 13120"/>
            </a:avLst>
          </a:prstGeom>
          <a:solidFill>
            <a:srgbClr val="141320"/>
          </a:solidFill>
          <a:ln w="9525">
            <a:solidFill>
              <a:srgbClr val="2624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5889427" y="1603028"/>
            <a:ext cx="21828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payments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889427" y="1866454"/>
            <a:ext cx="2182800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Bef>
                <a:spcPts val="500"/>
              </a:spcBef>
              <a:buNone/>
            </a:pPr>
            <a:r>
              <a:rPr lang="en-US" sz="1000" dirty="0">
                <a:solidFill>
                  <a:srgbClr val="9A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Razorpay — UPI, cards, wallets, refunds &amp; webhooks.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07950" y="2510730"/>
            <a:ext cx="2489150" cy="967978"/>
          </a:xfrm>
          <a:prstGeom prst="roundRect">
            <a:avLst>
              <a:gd name="adj" fmla="val 13120"/>
            </a:avLst>
          </a:prstGeom>
          <a:solidFill>
            <a:srgbClr val="141320"/>
          </a:solidFill>
          <a:ln w="9525">
            <a:solidFill>
              <a:srgbClr val="2624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682526" y="2685306"/>
            <a:ext cx="21828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Park.Guard monitor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82526" y="2948732"/>
            <a:ext cx="2182800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Bef>
                <a:spcPts val="500"/>
              </a:spcBef>
              <a:buNone/>
            </a:pPr>
            <a:r>
              <a:rPr lang="en-US" sz="1000" dirty="0">
                <a:solidFill>
                  <a:srgbClr val="9A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CCTV &amp; impact alerts for your active booking.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111401" y="2510730"/>
            <a:ext cx="2489150" cy="967978"/>
          </a:xfrm>
          <a:prstGeom prst="roundRect">
            <a:avLst>
              <a:gd name="adj" fmla="val 13120"/>
            </a:avLst>
          </a:prstGeom>
          <a:solidFill>
            <a:srgbClr val="141320"/>
          </a:solidFill>
          <a:ln w="9525">
            <a:solidFill>
              <a:srgbClr val="2624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3285976" y="2685306"/>
            <a:ext cx="21828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reviews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3285976" y="2948732"/>
            <a:ext cx="2182800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Bef>
                <a:spcPts val="500"/>
              </a:spcBef>
              <a:buNone/>
            </a:pPr>
            <a:r>
              <a:rPr lang="en-US" sz="1000" dirty="0">
                <a:solidFill>
                  <a:srgbClr val="9A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real customers who booked can rate a spot.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714851" y="2510730"/>
            <a:ext cx="2489150" cy="967978"/>
          </a:xfrm>
          <a:prstGeom prst="roundRect">
            <a:avLst>
              <a:gd name="adj" fmla="val 13120"/>
            </a:avLst>
          </a:prstGeom>
          <a:solidFill>
            <a:srgbClr val="141320"/>
          </a:solidFill>
          <a:ln w="9525">
            <a:solidFill>
              <a:srgbClr val="2624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5889427" y="2685306"/>
            <a:ext cx="21828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889427" y="2948732"/>
            <a:ext cx="2182800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Bef>
                <a:spcPts val="500"/>
              </a:spcBef>
              <a:buNone/>
            </a:pPr>
            <a:r>
              <a:rPr lang="en-US" sz="1000" dirty="0">
                <a:solidFill>
                  <a:srgbClr val="9A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built-in chatbot answers parking &amp; booking queries.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81000"/>
            <a:ext cx="82906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IMPACT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7950" y="634901"/>
            <a:ext cx="829066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saved, fines avoided, cities unclogged.</a:t>
            </a:r>
            <a:endParaRPr lang="en-US" sz="2700" dirty="0"/>
          </a:p>
        </p:txBody>
      </p:sp>
      <p:pic>
        <p:nvPicPr>
          <p:cNvPr id="4" name="Image 0" descr="/Users/yashwantyadav/Desktop/Parking_assist/deck-build/assets/grad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950" y="1161901"/>
            <a:ext cx="1143000" cy="6340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7950" y="1453753"/>
            <a:ext cx="3238449" cy="920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3"/>
              </a:lnSpc>
              <a:spcBef>
                <a:spcPts val="400"/>
              </a:spcBef>
              <a:buNone/>
            </a:pPr>
            <a:r>
              <a:rPr lang="en-US" sz="1250" dirty="0">
                <a:solidFill>
                  <a:srgbClr val="9A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guiding drivers straight to a legal, reserved bay, ParkEase removes the circling that wastes time and triggers illegal-parking fines.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507950" y="2527102"/>
            <a:ext cx="2920901" cy="1074390"/>
          </a:xfrm>
          <a:prstGeom prst="roundRect">
            <a:avLst>
              <a:gd name="adj" fmla="val 10639"/>
            </a:avLst>
          </a:prstGeom>
          <a:solidFill>
            <a:srgbClr val="15131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4"/>
          <p:cNvSpPr/>
          <p:nvPr/>
        </p:nvSpPr>
        <p:spPr>
          <a:xfrm>
            <a:off x="531763" y="2527102"/>
            <a:ext cx="0" cy="1074390"/>
          </a:xfrm>
          <a:prstGeom prst="line">
            <a:avLst/>
          </a:prstGeom>
          <a:noFill/>
          <a:ln w="47625">
            <a:solidFill>
              <a:srgbClr val="A855F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6075" y="2717602"/>
            <a:ext cx="254212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79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~17 min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46075" y="3222427"/>
            <a:ext cx="2542121" cy="188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spcBef>
                <a:spcPts val="600"/>
              </a:spcBef>
              <a:buNone/>
            </a:pPr>
            <a:r>
              <a:rPr lang="en-US" sz="1100" dirty="0">
                <a:solidFill>
                  <a:srgbClr val="AAB0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saved per trip, per driver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07950" y="4648200"/>
            <a:ext cx="82906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53"/>
              </a:spcBef>
              <a:buNone/>
            </a:pPr>
            <a:r>
              <a:rPr lang="en-US" sz="800" dirty="0">
                <a:solidFill>
                  <a:srgbClr val="5B5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projection: users × 2 trips/day × 17 min saved. For modelling only.</a:t>
            </a:r>
            <a:endParaRPr lang="en-US" sz="8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3835301" y="1403003"/>
          <a:ext cx="4191000" cy="298445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81000"/>
            <a:ext cx="82906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OPPORTUNITY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7950" y="634901"/>
            <a:ext cx="829066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large, fast-growing market.</a:t>
            </a:r>
            <a:endParaRPr lang="en-US" sz="2700" dirty="0"/>
          </a:p>
        </p:txBody>
      </p:sp>
      <p:pic>
        <p:nvPicPr>
          <p:cNvPr id="4" name="Image 0" descr="/Users/yashwantyadav/Desktop/Parking_assist/deck-build/assets/grad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950" y="1161901"/>
            <a:ext cx="1143000" cy="6340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7950" y="1479203"/>
            <a:ext cx="3174950" cy="107930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2125"/>
              </a:lnSpc>
              <a:buSzPct val="100000"/>
              <a:buChar char="•"/>
            </a:pPr>
            <a:r>
              <a:rPr lang="en-US" sz="1250" b="1" dirty="0">
                <a:solidFill>
                  <a:srgbClr val="E879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350M+</a:t>
            </a:r>
            <a:pPr algn="l" indent="0" marL="0">
              <a:lnSpc>
                <a:spcPts val="2125"/>
              </a:lnSpc>
              <a:buNone/>
            </a:pPr>
            <a:r>
              <a:rPr lang="en-US" sz="1250" dirty="0">
                <a:solidFill>
                  <a:srgbClr val="CFD0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registered vehicles nationwide</a:t>
            </a:r>
            <a:endParaRPr lang="en-US" sz="1250" dirty="0"/>
          </a:p>
          <a:p>
            <a:pPr algn="l" marL="88900" indent="-88900">
              <a:lnSpc>
                <a:spcPts val="2125"/>
              </a:lnSpc>
              <a:buSzPct val="100000"/>
              <a:buChar char="•"/>
            </a:pPr>
            <a:r>
              <a:rPr lang="en-US" sz="1250" b="1" dirty="0">
                <a:solidFill>
                  <a:srgbClr val="E879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500M+</a:t>
            </a:r>
            <a:pPr algn="l" indent="0" marL="0">
              <a:lnSpc>
                <a:spcPts val="2125"/>
              </a:lnSpc>
              <a:buNone/>
            </a:pPr>
            <a:r>
              <a:rPr lang="en-US" sz="1250" dirty="0">
                <a:solidFill>
                  <a:srgbClr val="CFD0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people living in urban India</a:t>
            </a:r>
            <a:endParaRPr lang="en-US" sz="1250" dirty="0"/>
          </a:p>
          <a:p>
            <a:pPr algn="l" marL="88900" indent="-88900">
              <a:lnSpc>
                <a:spcPts val="2125"/>
              </a:lnSpc>
              <a:buSzPct val="100000"/>
              <a:buChar char="•"/>
            </a:pPr>
            <a:r>
              <a:rPr lang="en-US" sz="1250" dirty="0">
                <a:solidFill>
                  <a:srgbClr val="CFD0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Smart-parking adoption rising with UPI &amp; smartphones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507950" y="2685455"/>
            <a:ext cx="3238449" cy="4604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3"/>
              </a:lnSpc>
              <a:spcBef>
                <a:spcPts val="1000"/>
              </a:spcBef>
              <a:buNone/>
            </a:pPr>
            <a:r>
              <a:rPr lang="en-US" sz="1250" dirty="0">
                <a:solidFill>
                  <a:srgbClr val="9A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a sliver of urban drivers is a multi-crore opportunity.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07950" y="4648200"/>
            <a:ext cx="82906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53"/>
              </a:spcBef>
              <a:buNone/>
            </a:pPr>
            <a:r>
              <a:rPr lang="en-US" sz="800" dirty="0">
                <a:solidFill>
                  <a:srgbClr val="5B5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Market-size curve is illustrative (indicative CAGR); replace with sourced figures before fundraising.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835301" y="1403003"/>
          <a:ext cx="4191000" cy="298445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81000"/>
            <a:ext cx="82906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7950" y="634901"/>
            <a:ext cx="829066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ways to earn.</a:t>
            </a:r>
            <a:endParaRPr lang="en-US" sz="2700" dirty="0"/>
          </a:p>
        </p:txBody>
      </p:sp>
      <p:pic>
        <p:nvPicPr>
          <p:cNvPr id="4" name="Image 0" descr="/Users/yashwantyadav/Desktop/Parking_assist/deck-build/assets/grad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950" y="1161901"/>
            <a:ext cx="1143000" cy="6340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7950" y="1479203"/>
            <a:ext cx="3174950" cy="107930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2125"/>
              </a:lnSpc>
              <a:buSzPct val="100000"/>
              <a:buChar char="•"/>
            </a:pPr>
            <a:r>
              <a:rPr lang="en-US" sz="1250" dirty="0">
                <a:solidFill>
                  <a:srgbClr val="CFD0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Commission on every booking</a:t>
            </a:r>
            <a:endParaRPr lang="en-US" sz="1250" dirty="0"/>
          </a:p>
          <a:p>
            <a:pPr algn="l" marL="88900" indent="-88900">
              <a:lnSpc>
                <a:spcPts val="2125"/>
              </a:lnSpc>
              <a:buSzPct val="100000"/>
              <a:buChar char="•"/>
            </a:pPr>
            <a:r>
              <a:rPr lang="en-US" sz="1250" dirty="0">
                <a:solidFill>
                  <a:srgbClr val="CFD0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subscriptions &amp; featured listings</a:t>
            </a:r>
            <a:endParaRPr lang="en-US" sz="1250" dirty="0"/>
          </a:p>
          <a:p>
            <a:pPr algn="l" marL="88900" indent="-88900">
              <a:lnSpc>
                <a:spcPts val="2125"/>
              </a:lnSpc>
              <a:buSzPct val="100000"/>
              <a:buChar char="•"/>
            </a:pPr>
            <a:r>
              <a:rPr lang="en-US" sz="1250" dirty="0">
                <a:solidFill>
                  <a:srgbClr val="CFD0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/ surge pricing share</a:t>
            </a:r>
            <a:endParaRPr lang="en-US" sz="1250" dirty="0"/>
          </a:p>
          <a:p>
            <a:pPr algn="l" marL="88900" indent="-88900">
              <a:lnSpc>
                <a:spcPts val="2125"/>
              </a:lnSpc>
              <a:buSzPct val="100000"/>
              <a:buChar char="•"/>
            </a:pPr>
            <a:r>
              <a:rPr lang="en-US" sz="1250" dirty="0">
                <a:solidFill>
                  <a:srgbClr val="CFD0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Ads &amp; partnerships (EV, insurance)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507950" y="2685455"/>
            <a:ext cx="3238449" cy="4604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3"/>
              </a:lnSpc>
              <a:spcBef>
                <a:spcPts val="1000"/>
              </a:spcBef>
              <a:buNone/>
            </a:pPr>
            <a:r>
              <a:rPr lang="en-US" sz="1250" dirty="0">
                <a:solidFill>
                  <a:srgbClr val="9A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Asset-light: we monetise spaces that already exist.</a:t>
            </a:r>
            <a:endParaRPr lang="en-US" sz="12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835301" y="1403003"/>
          <a:ext cx="4191000" cy="298445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81000"/>
            <a:ext cx="82906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PARKEASE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7950" y="634901"/>
            <a:ext cx="829066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today, vision for tomorrow.</a:t>
            </a:r>
            <a:endParaRPr lang="en-US" sz="2700" dirty="0"/>
          </a:p>
        </p:txBody>
      </p:sp>
      <p:pic>
        <p:nvPicPr>
          <p:cNvPr id="4" name="Image 0" descr="/Users/yashwantyadav/Desktop/Parking_assist/deck-build/assets/grad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950" y="1161901"/>
            <a:ext cx="1143000" cy="6340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7950" y="1453902"/>
            <a:ext cx="3810000" cy="2076004"/>
          </a:xfrm>
          <a:prstGeom prst="roundRect">
            <a:avLst>
              <a:gd name="adj" fmla="val 6729"/>
            </a:avLst>
          </a:prstGeom>
          <a:solidFill>
            <a:srgbClr val="15131F"/>
          </a:solidFill>
          <a:ln w="9525">
            <a:solidFill>
              <a:srgbClr val="2A274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720626" y="1666577"/>
            <a:ext cx="345234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edge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20626" y="1968103"/>
            <a:ext cx="3384649" cy="1349127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2125"/>
              </a:lnSpc>
              <a:buSzPct val="100000"/>
              <a:buChar char="•"/>
            </a:pPr>
            <a:r>
              <a:rPr lang="en-US" sz="1250" dirty="0">
                <a:solidFill>
                  <a:srgbClr val="CFD0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Aggregates lots, street &amp; private spaces in one app</a:t>
            </a:r>
            <a:endParaRPr lang="en-US" sz="1250" dirty="0"/>
          </a:p>
          <a:p>
            <a:pPr algn="l" marL="88900" indent="-88900">
              <a:lnSpc>
                <a:spcPts val="2125"/>
              </a:lnSpc>
              <a:buSzPct val="100000"/>
              <a:buChar char="•"/>
            </a:pPr>
            <a:r>
              <a:rPr lang="en-US" sz="1250" dirty="0">
                <a:solidFill>
                  <a:srgbClr val="CFD0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Real-time, secure payments &amp; monitoring built in</a:t>
            </a:r>
            <a:endParaRPr lang="en-US" sz="1250" dirty="0"/>
          </a:p>
          <a:p>
            <a:pPr algn="l" marL="88900" indent="-88900">
              <a:lnSpc>
                <a:spcPts val="2125"/>
              </a:lnSpc>
              <a:buSzPct val="100000"/>
              <a:buChar char="•"/>
            </a:pPr>
            <a:r>
              <a:rPr lang="en-US" sz="1250" dirty="0">
                <a:solidFill>
                  <a:srgbClr val="CFD0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reviews &amp; an AI assistant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495651" y="1453902"/>
            <a:ext cx="3810000" cy="2076004"/>
          </a:xfrm>
          <a:prstGeom prst="roundRect">
            <a:avLst>
              <a:gd name="adj" fmla="val 6729"/>
            </a:avLst>
          </a:prstGeom>
          <a:solidFill>
            <a:srgbClr val="15131F"/>
          </a:solidFill>
          <a:ln w="9525">
            <a:solidFill>
              <a:srgbClr val="2A274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4708327" y="1666577"/>
            <a:ext cx="345234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What’s next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708327" y="1968103"/>
            <a:ext cx="3384649" cy="809476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2125"/>
              </a:lnSpc>
              <a:buSzPct val="100000"/>
              <a:buChar char="•"/>
            </a:pPr>
            <a:r>
              <a:rPr lang="en-US" sz="1250" dirty="0">
                <a:solidFill>
                  <a:srgbClr val="CFD0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availability prediction &amp; dynamic pricing</a:t>
            </a:r>
            <a:endParaRPr lang="en-US" sz="1250" dirty="0"/>
          </a:p>
          <a:p>
            <a:pPr algn="l" marL="88900" indent="-88900">
              <a:lnSpc>
                <a:spcPts val="2125"/>
              </a:lnSpc>
              <a:buSzPct val="100000"/>
              <a:buChar char="•"/>
            </a:pPr>
            <a:r>
              <a:rPr lang="en-US" sz="1250" dirty="0">
                <a:solidFill>
                  <a:srgbClr val="CFD0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EV-charging &amp; IoT sensor integration</a:t>
            </a:r>
            <a:endParaRPr lang="en-US" sz="1250" dirty="0"/>
          </a:p>
          <a:p>
            <a:pPr algn="l" marL="88900" indent="-88900">
              <a:lnSpc>
                <a:spcPts val="2125"/>
              </a:lnSpc>
              <a:buSzPct val="100000"/>
              <a:buChar char="•"/>
            </a:pPr>
            <a:r>
              <a:rPr lang="en-US" sz="1250" dirty="0">
                <a:solidFill>
                  <a:srgbClr val="CFD0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mobile apps &amp; city partnerships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905024"/>
            <a:ext cx="82906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VISION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7950" y="1209824"/>
            <a:ext cx="8290661" cy="11680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spcBef>
                <a:spcPts val="1200"/>
              </a:spcBef>
              <a:buNone/>
            </a:pPr>
            <a:r>
              <a:rPr lang="en-US" sz="4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 with certainty.
</a:t>
            </a:r>
            <a:pPr algn="l" indent="0" marL="0">
              <a:lnSpc>
                <a:spcPts val="4600"/>
              </a:lnSpc>
              <a:spcBef>
                <a:spcPts val="1200"/>
              </a:spcBef>
              <a:buNone/>
            </a:pPr>
            <a:r>
              <a:rPr lang="en-US" sz="40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Arrive with ease.</a:t>
            </a:r>
            <a:endParaRPr lang="en-US" sz="4000" dirty="0"/>
          </a:p>
        </p:txBody>
      </p:sp>
      <p:pic>
        <p:nvPicPr>
          <p:cNvPr id="4" name="Image 0" descr="/Users/yashwantyadav/Desktop/Parking_assist/deck-build/assets/grad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950" y="2580977"/>
            <a:ext cx="1905000" cy="76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7950" y="2885777"/>
            <a:ext cx="7254139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Bef>
                <a:spcPts val="1800"/>
              </a:spcBef>
              <a:buNone/>
            </a:pPr>
            <a:r>
              <a:rPr lang="en-US" sz="1400" dirty="0">
                <a:solidFill>
                  <a:srgbClr val="C6C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ParkEase turns wasted minutes and avoidable fines into a single tap — making India’s cities move a little more smoothly.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07950" y="3723977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400"/>
              </a:spcBef>
              <a:buNone/>
            </a:pPr>
            <a:r>
              <a:rPr lang="en-US" sz="1200" dirty="0">
                <a:solidFill>
                  <a:srgbClr val="8B8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you.   Let’s build the future of parking.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07950" y="4124027"/>
            <a:ext cx="82906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800"/>
              </a:spcBef>
              <a:buNone/>
            </a:pPr>
            <a:r>
              <a:rPr lang="en-US" sz="800" dirty="0">
                <a:solidFill>
                  <a:srgbClr val="5B5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statistics are reported/illustrative figures included for discussion; verify and cite primary sources before any public or investor use.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ParkEase — Smart Parking Finder &amp; Booking Platform</dc:title>
  <dc:subject>PptxGenJS Presentation</dc:subject>
  <dc:creator>ParkEase</dc:creator>
  <cp:lastModifiedBy>ParkEase</cp:lastModifiedBy>
  <cp:revision>1</cp:revision>
  <dcterms:created xsi:type="dcterms:W3CDTF">2026-06-22T08:39:08Z</dcterms:created>
  <dcterms:modified xsi:type="dcterms:W3CDTF">2026-06-22T08:39:08Z</dcterms:modified>
</cp:coreProperties>
</file>